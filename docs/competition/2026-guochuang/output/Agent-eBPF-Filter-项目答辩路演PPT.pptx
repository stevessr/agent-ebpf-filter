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3561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92608"/>
            <a:ext cx="852220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566928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1722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国创赛2026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682496" y="566928"/>
            <a:ext cx="102412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82496" y="617220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高教主赛道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852928" y="566928"/>
            <a:ext cx="877824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52928" y="617220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创意组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85216" y="11704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eBPF Filter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585216" y="1627632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AI Agent 的</a:t>
            </a:r>
            <a:endParaRPr lang="en-US" sz="2900" dirty="0"/>
          </a:p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内核级运行时安全与可观测平台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21792" y="2788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Agent 的“承诺”和操作系统里的“事实”对齐起来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767328"/>
            <a:ext cx="107899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" y="385876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" y="420624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内核事实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1874520" y="3767328"/>
            <a:ext cx="107899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947672" y="385876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947672" y="420624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同步阻断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3108960" y="3767328"/>
            <a:ext cx="107899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82112" y="385876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182112" y="420624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执行归因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5742432" y="950976"/>
            <a:ext cx="2542032" cy="3383280"/>
          </a:xfrm>
          <a:prstGeom prst="roundRect">
            <a:avLst>
              <a:gd name="adj" fmla="val 4317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1261872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负责人/学院/联系方式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62472" y="178308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【待填】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推荐学院：待填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负责人：待填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手机号：待填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QQ：待填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943600" y="3822192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项目答辩 / 路演版 · 2026-05-25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10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路演结构：从真实痛点到代码证据，再到商业落地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遵循高教主赛道创意组：个人成长、项目创新、产业价值、团队协作。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94944" y="1207008"/>
            <a:ext cx="7635240" cy="457200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316736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367028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755648" y="129844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调研痛点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2926080" y="131673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OWASP / Five Eyes / GitGuardian 都指向：Agent 高权限执行链需要 runtime guardrail。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94944" y="1837944"/>
            <a:ext cx="763524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1947672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199796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755648" y="192938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用户画像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2926080" y="194767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开发者怕密钥外泄，安全团队怕不可审计，平台团队怕推广 Agent 后无法追责。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94944" y="2468880"/>
            <a:ext cx="7635240" cy="457200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2578608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2628900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755648" y="256032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技术闭环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2926080" y="257860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eBPF 事实层 + hooks 语义层 + BPF LSM/cgroup 阻断 + 执行图谱。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94944" y="3099816"/>
            <a:ext cx="763524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3209544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259836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755648" y="319125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代码证据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2926080" y="32095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lsm_enforcer、cgroup_sandbox、event_context、semantic_alerts、execution_graph 已有实现。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694944" y="3730752"/>
            <a:ext cx="7635240" cy="457200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" y="3840480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3890772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755648" y="38221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商业落地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2926080" y="384048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高校/实验室试点切入，扩展 AI coding 团队、企业私有化与教育服务。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10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问题：Agent 安全已从“回答错”变成“三个不可见”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 Agent 会启动终端、修改文件、安装依赖、访问网络，安全边界必须落到运行时。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30352" y="1115568"/>
            <a:ext cx="2514600" cy="269748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252728"/>
            <a:ext cx="7315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1234440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意图不可见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4944" y="1618488"/>
            <a:ext cx="2221992" cy="2130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EDR 看得到进程，却不知道哪个 run/task/tool_call 触发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Prompt 网关看得到文本，看不到 OS 行为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3310128" y="1115568"/>
            <a:ext cx="2514600" cy="269748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38144" y="1252728"/>
            <a:ext cx="7315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75304" y="1234440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链路不可见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1618488"/>
            <a:ext cx="2221992" cy="2130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危险动作常发生在 shell/python/node/git/npm/curl 子进程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MCP 配置、skills、依赖脚本扩大本机攻击面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6089904" y="1115568"/>
            <a:ext cx="2514600" cy="269748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252728"/>
            <a:ext cx="7315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234440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阻断不可见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54496" y="1618488"/>
            <a:ext cx="2221992" cy="2130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事后日志难证明动作是否已被内核拒绝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安全团队需要可回放、可提交的证据链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658368" y="4078224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结论：用户真正要的不是“再加一个大屏”，而是把 Agent 语义与操作系统事实合成可验证证据链。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75488" y="4901184"/>
            <a:ext cx="7772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调研依据：OWASP LLM06:2025 Excessive Agency；Five Eyes/CISA/NSA/NCSC Agentic AI 指南；GitGuardian 2026 secrets sprawl。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1" y="210312"/>
            <a:ext cx="735019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典型风险链：Prompt 注入 → 工具误用 → 子进程漂移 → 数据外泄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项目从执行链而不是单条日志看待 Agent 风险。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6928" y="1463040"/>
            <a:ext cx="120700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62763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注入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1975104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 / Issue / README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1792224" y="1938528"/>
            <a:ext cx="402336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31136" y="1463040"/>
            <a:ext cx="120700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04288" y="162763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工具误用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304288" y="1975104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shell / MCP / browser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3456432" y="1938528"/>
            <a:ext cx="402336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895344" y="1463040"/>
            <a:ext cx="120700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68496" y="162763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子进程漂移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968496" y="1975104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/ node / curl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5120640" y="1938528"/>
            <a:ext cx="402336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559552" y="1463040"/>
            <a:ext cx="120700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32704" y="162763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数据外泄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32704" y="1975104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 / network / TLS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6784848" y="1938528"/>
            <a:ext cx="402336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223760" y="1463040"/>
            <a:ext cx="1207008" cy="987552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96912" y="162763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安全闭环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296912" y="1975104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 / 阻断 / 回放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786384" y="3063240"/>
            <a:ext cx="233172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4400" y="3200400"/>
            <a:ext cx="7315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3182112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观测对象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50976" y="3566160"/>
            <a:ext cx="203911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进程、文件、网络、策略、工具调用</a:t>
            </a:r>
            <a:endParaRPr lang="en-US" sz="1010" dirty="0"/>
          </a:p>
        </p:txBody>
      </p:sp>
      <p:sp>
        <p:nvSpPr>
          <p:cNvPr id="32" name="Shape 30"/>
          <p:cNvSpPr/>
          <p:nvPr/>
        </p:nvSpPr>
        <p:spPr>
          <a:xfrm>
            <a:off x="3401568" y="3063240"/>
            <a:ext cx="233172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529584" y="3200400"/>
            <a:ext cx="7315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66744" y="3182112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判断依据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566160" y="3566160"/>
            <a:ext cx="203911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意图是否与事实行为一致</a:t>
            </a:r>
            <a:endParaRPr lang="en-US" sz="1010" dirty="0"/>
          </a:p>
        </p:txBody>
      </p:sp>
      <p:sp>
        <p:nvSpPr>
          <p:cNvPr id="36" name="Shape 34"/>
          <p:cNvSpPr/>
          <p:nvPr/>
        </p:nvSpPr>
        <p:spPr>
          <a:xfrm>
            <a:off x="6016752" y="3063240"/>
            <a:ext cx="233172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44768" y="3200400"/>
            <a:ext cx="7315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81928" y="3182112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处置动作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81344" y="3566160"/>
            <a:ext cx="203911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ALLOW / ALERT / BLOCK / REWRITE</a:t>
            </a:r>
            <a:endParaRPr lang="en-US" sz="1010" dirty="0"/>
          </a:p>
        </p:txBody>
      </p:sp>
      <p:sp>
        <p:nvSpPr>
          <p:cNvPr id="40" name="Text 38"/>
          <p:cNvSpPr/>
          <p:nvPr/>
        </p:nvSpPr>
        <p:spPr>
          <a:xfrm>
            <a:off x="475488" y="4901184"/>
            <a:ext cx="7772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调研案例覆盖：开源 Agent/skills 供应链、MCP 配置密钥、只读任务漂移与异常外联。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10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解决方案：看得见、说得清、拦得住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eBPF 为事实底座，用 hooks/wrapper 补齐 Agent 语义，再进入图谱和策略闭环。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14400" y="1115568"/>
            <a:ext cx="7315200" cy="457200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1225296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27558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/ CLI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487168" y="1234440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Codex、Claude、Gemini、Copilot、脚本与子进程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4572000" y="1591056"/>
            <a:ext cx="0" cy="128016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14400" y="1737360"/>
            <a:ext cx="73152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1847088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1897380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说得清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487168" y="1856232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wrapper / native hooks / adapters：run、task、tool_call、intent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4572000" y="2212848"/>
            <a:ext cx="0" cy="128016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4400" y="2359152"/>
            <a:ext cx="7315200" cy="457200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246888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251917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看得见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487168" y="2478024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eBPF tracepoints / cgroup / BPF LSM：exec、file、net、fork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4572000" y="2834640"/>
            <a:ext cx="0" cy="128016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4400" y="2980944"/>
            <a:ext cx="73152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" y="3090672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3140964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拦得住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487168" y="3099816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BPF LSM、cgroup、wrapper 策略：ALLOW / ALERT / BLOCK / REWRITE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4572000" y="3456432"/>
            <a:ext cx="0" cy="128016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14400" y="3602736"/>
            <a:ext cx="7315200" cy="457200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97280" y="3712464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3762756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可复盘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487168" y="3721608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EventEnvelope、semantic_alerts、Execution Graph、JSONL、OTLP、MCP</a:t>
            </a:r>
            <a:endParaRPr lang="en-US" sz="10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10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当前原型：已不是概念图，而是可运行工程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仓库已包含 Go 后端、eBPF 程序、Vue 前端、wrapper、适配器与部署脚本。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8368" y="1207008"/>
            <a:ext cx="1243584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12984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16459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特权后端/API/策略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2103120" y="1207008"/>
            <a:ext cx="1243584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76272" y="12984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176272" y="16459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tracepoints/LSM/cgroup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3547872" y="1207008"/>
            <a:ext cx="1243584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12984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621024" y="16459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Dashboard/Graph/UI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4992624" y="1207008"/>
            <a:ext cx="1243584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65776" y="12984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Wrapper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65776" y="16459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命令控制/UDS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437376" y="1207008"/>
            <a:ext cx="1243584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10528" y="12984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10528" y="16459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风险评分/训练集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658368" y="2450592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6384" y="2587752"/>
            <a:ext cx="7315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" y="2569464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后台能力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2953512"/>
            <a:ext cx="222199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event_envelope.go：统一事件模型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semantic_alerts.go：语义风险告警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execution_graph.go：证据图谱</a:t>
            </a:r>
            <a:endParaRPr lang="en-US" sz="1010" dirty="0"/>
          </a:p>
        </p:txBody>
      </p:sp>
      <p:sp>
        <p:nvSpPr>
          <p:cNvPr id="28" name="Shape 26"/>
          <p:cNvSpPr/>
          <p:nvPr/>
        </p:nvSpPr>
        <p:spPr>
          <a:xfrm>
            <a:off x="3310128" y="2450592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38144" y="2587752"/>
            <a:ext cx="7315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75304" y="2569464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内核能力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74720" y="2953512"/>
            <a:ext cx="222199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lsm_enforcer.c：exec/file/inode 阻断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cgroup_sandbox.c：connect/sendmsg 阻断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agent_tracker.c：进程事实采集</a:t>
            </a:r>
            <a:endParaRPr lang="en-US" sz="1010" dirty="0"/>
          </a:p>
        </p:txBody>
      </p:sp>
      <p:sp>
        <p:nvSpPr>
          <p:cNvPr id="32" name="Shape 30"/>
          <p:cNvSpPr/>
          <p:nvPr/>
        </p:nvSpPr>
        <p:spPr>
          <a:xfrm>
            <a:off x="5961888" y="2450592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9904" y="2587752"/>
            <a:ext cx="7315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27064" y="2569464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产品能力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26480" y="2953512"/>
            <a:ext cx="222199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Vue Dashboard / Execution Graph / Config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低代码 recipe 与 transpiler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systemd / rc.local / K8s 部署文档</a:t>
            </a:r>
            <a:endParaRPr lang="en-US" sz="1010" dirty="0"/>
          </a:p>
        </p:txBody>
      </p:sp>
      <p:sp>
        <p:nvSpPr>
          <p:cNvPr id="36" name="Text 34"/>
          <p:cNvSpPr/>
          <p:nvPr/>
        </p:nvSpPr>
        <p:spPr>
          <a:xfrm>
            <a:off x="749808" y="427939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答辩要点：每个卖点都能指到代码文件、演示页面和验证脚本。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10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创新一：BPF LSM + cgroup 形成确定性内核阻断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不是只做事后日志，而是在 exec/open/read/write/mmap/rename/connect 等路径前置决策。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8368" y="1170432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" y="1307592"/>
            <a:ext cx="7315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1289304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BPF LSM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1673352"/>
            <a:ext cx="2221992" cy="1810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bprm_check_security：执行前检查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file_open / file_permission：打开与读写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inode_*：创建、删除、重命名、链接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命中策略返回 -EACCES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3310128" y="1170432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38144" y="1307592"/>
            <a:ext cx="7315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75304" y="1289304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cgroup 网络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1673352"/>
            <a:ext cx="2221992" cy="1810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connect4/connect6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sendmsg4/sendmsg6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按 cgroup、IP、IPv6、端口阻断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覆盖 TCP/UDP 外联场景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5961888" y="1170432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9904" y="1307592"/>
            <a:ext cx="7315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7064" y="1289304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策略原则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1673352"/>
            <a:ext cx="2221992" cy="1810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确定性 map lookup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ML/LLM 只建议不直接内核阻断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策略通过认证 API 修改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阻断证据进入执行图谱</a:t>
            </a:r>
            <a:endParaRPr lang="en-US" sz="1010" dirty="0"/>
          </a:p>
        </p:txBody>
      </p:sp>
      <p:sp>
        <p:nvSpPr>
          <p:cNvPr id="21" name="Shape 19"/>
          <p:cNvSpPr/>
          <p:nvPr/>
        </p:nvSpPr>
        <p:spPr>
          <a:xfrm>
            <a:off x="1005840" y="4005072"/>
            <a:ext cx="7132320" cy="457200"/>
          </a:xfrm>
          <a:prstGeom prst="roundRect">
            <a:avLst>
              <a:gd name="adj" fmla="val 24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4160520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评委可感知亮点：真实 OS 级拒绝，而不是 UI 上标红。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5488" y="4901184"/>
            <a:ext cx="7772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代码证据：backend/ebpf/lsm_enforcer.c；backend/ebpf/cgroup_sandbox.c；scripts/os-enforcement-smoke.sh。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10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创新二：进程树追踪让 Agent 子进程不再“失踪”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Agent 行为经常发生在 /bin/sh、python、node、git、npm、curl 等子进程。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1883664"/>
            <a:ext cx="987552" cy="640080"/>
          </a:xfrm>
          <a:prstGeom prst="roundRect">
            <a:avLst>
              <a:gd name="adj" fmla="val 17143"/>
            </a:avLst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944" y="2084832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1645920" y="2203704"/>
            <a:ext cx="283464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965960" y="1883664"/>
            <a:ext cx="98755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20824" y="2084832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Call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2971800" y="2203704"/>
            <a:ext cx="283464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91840" y="1883664"/>
            <a:ext cx="987552" cy="640080"/>
          </a:xfrm>
          <a:prstGeom prst="roundRect">
            <a:avLst>
              <a:gd name="adj" fmla="val 17143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46704" y="2084832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shell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4297680" y="2203704"/>
            <a:ext cx="283464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617720" y="1883664"/>
            <a:ext cx="98755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72584" y="2084832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python/node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623560" y="2203704"/>
            <a:ext cx="283464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943600" y="1883664"/>
            <a:ext cx="987552" cy="640080"/>
          </a:xfrm>
          <a:prstGeom prst="roundRect">
            <a:avLst>
              <a:gd name="adj" fmla="val 17143"/>
            </a:avLst>
          </a:prstGeom>
          <a:solidFill>
            <a:srgbClr val="F1F5F9"/>
          </a:solidFill>
          <a:ln w="12700">
            <a:solidFill>
              <a:srgbClr val="16A34A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98464" y="2084832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file/net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949440" y="2203704"/>
            <a:ext cx="283464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269480" y="1883664"/>
            <a:ext cx="98755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24344" y="2084832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749808" y="3127248"/>
            <a:ext cx="2331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77824" y="3264408"/>
            <a:ext cx="73152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4984" y="3246120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继承字段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3630168"/>
            <a:ext cx="20391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agent_run_id / task_id / tool_call_id / trace_id</a:t>
            </a:r>
            <a:endParaRPr lang="en-US" sz="1010" dirty="0"/>
          </a:p>
        </p:txBody>
      </p:sp>
      <p:sp>
        <p:nvSpPr>
          <p:cNvPr id="30" name="Shape 28"/>
          <p:cNvSpPr/>
          <p:nvPr/>
        </p:nvSpPr>
        <p:spPr>
          <a:xfrm>
            <a:off x="3401568" y="3127248"/>
            <a:ext cx="2331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529584" y="3264408"/>
            <a:ext cx="7315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66744" y="3246120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事实字段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66160" y="3630168"/>
            <a:ext cx="20391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PID/TGID/PPID、comm、cwd、cgroup_id</a:t>
            </a:r>
            <a:endParaRPr lang="en-US" sz="1010" dirty="0"/>
          </a:p>
        </p:txBody>
      </p:sp>
      <p:sp>
        <p:nvSpPr>
          <p:cNvPr id="34" name="Shape 32"/>
          <p:cNvSpPr/>
          <p:nvPr/>
        </p:nvSpPr>
        <p:spPr>
          <a:xfrm>
            <a:off x="6053328" y="3127248"/>
            <a:ext cx="23317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81344" y="3264408"/>
            <a:ext cx="7315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18504" y="3246120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复盘结果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17920" y="3630168"/>
            <a:ext cx="20391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一条链路回放所有子进程与对象</a:t>
            </a:r>
            <a:endParaRPr lang="en-US" sz="1010" dirty="0"/>
          </a:p>
        </p:txBody>
      </p:sp>
      <p:sp>
        <p:nvSpPr>
          <p:cNvPr id="38" name="Text 36"/>
          <p:cNvSpPr/>
          <p:nvPr/>
        </p:nvSpPr>
        <p:spPr>
          <a:xfrm>
            <a:off x="475488" y="4901184"/>
            <a:ext cx="7772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代码证据：backend/event_context.go 从父 PID 或 cgroup 继承 Agent 上下文。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10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创新三：语义-事实一致性检测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把工具声明的意图与 eBPF 事实对比，识别“说是读文件，实际在外联/读密钥”。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1133856"/>
            <a:ext cx="2487168" cy="26517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" y="1271016"/>
            <a:ext cx="7315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" y="125272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语义输入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" y="1636776"/>
            <a:ext cx="2194560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tool_name / task / prompt 摘要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wrapper 决策请求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native hook 元数据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3310128" y="1133856"/>
            <a:ext cx="2487168" cy="26517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38144" y="1271016"/>
            <a:ext cx="7315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75304" y="125272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事实输入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1636776"/>
            <a:ext cx="2194560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exec/open/connect/send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进程树、路径、网络端点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BPF LSM/cgroup 决策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6071616" y="1133856"/>
            <a:ext cx="2487168" cy="26517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99632" y="1271016"/>
            <a:ext cx="7315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6792" y="125272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输出告警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36208" y="1636776"/>
            <a:ext cx="2194560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SECRET_ACCESS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UNEXPECTED_NETWORK_EGRESS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WORKSPACE_ESCAPE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TOKEN_EXFIL_RISK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768096" y="4251960"/>
            <a:ext cx="7543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示例：任务声明为只读代码审查，但子进程访问 ~/.ssh 或向未知公网地址发送数据 → 触发高风险告警/阻断。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475488" y="4901184"/>
            <a:ext cx="7772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代码证据：backend/semantic_alerts.go；backend/event_envelope.go；backend/execution_graph.go。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10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演示场景：三分钟证明“看得见、说得清、拦得住”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建议现场按 3 个最硬核场景演示，避免只展示大屏。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6928" y="1243584"/>
            <a:ext cx="3694176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4944" y="1380744"/>
            <a:ext cx="7315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1362456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敏感路径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1746504"/>
            <a:ext cx="340156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Agent 尝试读取 .env / ssh key → SECRET_ACCESS + 任务归因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4727448" y="1243584"/>
            <a:ext cx="3694176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55464" y="1380744"/>
            <a:ext cx="7315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92624" y="1362456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异常外联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746504"/>
            <a:ext cx="340156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curl / python 子进程连接未知 IP:port → UNEXPECTED_NETWORK_EGRESS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566928" y="2596896"/>
            <a:ext cx="3694176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4944" y="2734056"/>
            <a:ext cx="7315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" y="2715768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内核阻断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3099816"/>
            <a:ext cx="340156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BPF LSM 返回 EACCES，cgroup 拒绝 connect/sendmsg</a:t>
            </a:r>
            <a:endParaRPr lang="en-US" sz="1010" dirty="0"/>
          </a:p>
        </p:txBody>
      </p:sp>
      <p:sp>
        <p:nvSpPr>
          <p:cNvPr id="21" name="Shape 19"/>
          <p:cNvSpPr/>
          <p:nvPr/>
        </p:nvSpPr>
        <p:spPr>
          <a:xfrm>
            <a:off x="4727448" y="2596896"/>
            <a:ext cx="3694176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55464" y="2734056"/>
            <a:ext cx="73152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92624" y="2715768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图谱回放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099816"/>
            <a:ext cx="340156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Agent Run → Tool Call → Process → File/Network → Policy</a:t>
            </a:r>
            <a:endParaRPr lang="en-US" sz="1010" dirty="0"/>
          </a:p>
        </p:txBody>
      </p:sp>
      <p:sp>
        <p:nvSpPr>
          <p:cNvPr id="25" name="Shape 23"/>
          <p:cNvSpPr/>
          <p:nvPr/>
        </p:nvSpPr>
        <p:spPr>
          <a:xfrm>
            <a:off x="749808" y="4187952"/>
            <a:ext cx="7635240" cy="384048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4315968"/>
            <a:ext cx="7269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答辩话术：我们不是只做可视化，而是在内核执行路径上获取证据并形成策略闭环。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10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与评审规则对齐：四个维度逐项回应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高教主赛道创意组重点：个人成长30、项目创新30、产业价值25、团队协作15。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13232" y="1234440"/>
            <a:ext cx="7699248" cy="54864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1380744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431036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个人成长 30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304288" y="1371600"/>
            <a:ext cx="5742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课程知识到 eBPF 原型；调研 Agent 安全真实问题；专创融合。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13232" y="1984248"/>
            <a:ext cx="769924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2130552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180844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项目创新 30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304288" y="2121408"/>
            <a:ext cx="5742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BPF LSM、内核态阻断、进程树、语义-事实一致性。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13232" y="2734056"/>
            <a:ext cx="7699248" cy="54864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" y="2880360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2930652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产业价值 25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304288" y="2871216"/>
            <a:ext cx="5742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团队、高校实验室、企业安全审计强需求。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713232" y="3483864"/>
            <a:ext cx="769924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112" y="3630168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3680460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 15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304288" y="3621024"/>
            <a:ext cx="5742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内核、后端、前端、算法、商业分工清晰。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475488" y="4901184"/>
            <a:ext cx="7772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规则依据：2025 高教主赛道创意组评审规则；2026 正式通知发布后需复核。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10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目标市场：AI Agent 落地越快，运行时安全越刚需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从教育科研切入，扩展到 AI coding 团队和企业私有化部署。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30352" y="1170432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307592"/>
            <a:ext cx="7315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128930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高校实验室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4944" y="1673352"/>
            <a:ext cx="1627632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eBPF/AI安全教学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课程实验与竞赛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软著/论文/项目成果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2670048" y="1170432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98064" y="1307592"/>
            <a:ext cx="7315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35224" y="128930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团队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1673352"/>
            <a:ext cx="1627632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本地/云端 Agent 审计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敏感文件与外联治理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团队策略模板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4809744" y="1170432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1307592"/>
            <a:ext cx="7315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128930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企业安全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74336" y="1673352"/>
            <a:ext cx="1627632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私有化部署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审计报表与 SIEM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合规留存</a:t>
            </a:r>
            <a:endParaRPr lang="en-US" sz="1010" dirty="0"/>
          </a:p>
        </p:txBody>
      </p:sp>
      <p:sp>
        <p:nvSpPr>
          <p:cNvPr id="21" name="Shape 19"/>
          <p:cNvSpPr/>
          <p:nvPr/>
        </p:nvSpPr>
        <p:spPr>
          <a:xfrm>
            <a:off x="6949440" y="1170432"/>
            <a:ext cx="1719072" cy="246888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77456" y="1307592"/>
            <a:ext cx="7315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14616" y="12893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培训/靶场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14032" y="1673352"/>
            <a:ext cx="1426464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CTF/攻防演练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Agent 安全训练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案例数据集</a:t>
            </a:r>
            <a:endParaRPr lang="en-US" sz="1010" dirty="0"/>
          </a:p>
        </p:txBody>
      </p:sp>
      <p:sp>
        <p:nvSpPr>
          <p:cNvPr id="25" name="Text 23"/>
          <p:cNvSpPr/>
          <p:nvPr/>
        </p:nvSpPr>
        <p:spPr>
          <a:xfrm>
            <a:off x="841248" y="41330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先低门槛开源获客，再用专业版/私有化/培训完成转化。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10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商业模式：开源核心 + 专业版 + 私有化 + 教育服务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保留技术影响力，同时形成可收费的团队、企业与教学版本。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8368" y="1115568"/>
            <a:ext cx="7863840" cy="438912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1207008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257300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Community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240280" y="123444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免费/开源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794760" y="1234440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单机观测、基础告警、教学实验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58368" y="1709928"/>
            <a:ext cx="786384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1801368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1851660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 Pro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240280" y="182880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3.98万/年起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94760" y="1828800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团队策略、报表、训练样本、多用户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58368" y="2304288"/>
            <a:ext cx="7863840" cy="438912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2395728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2446020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Enterprise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240280" y="242316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19.8万/年起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794760" y="2423160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私有化、多节点、SSO、审计留存、集成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58368" y="2898648"/>
            <a:ext cx="786384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" y="2990088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3040380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Education Kit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240280" y="301752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3万/套起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794760" y="3017520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课程实验、靶场、竞赛训练营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658368" y="3493008"/>
            <a:ext cx="7863840" cy="438912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" y="3584448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" y="3634740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Consulting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240280" y="361188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5-20万/项目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794760" y="3611880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PoC、红队 replay、策略调优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475488" y="4901184"/>
            <a:ext cx="7772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注：价格为校赛版测算，提交前用真实客户访谈和报价校准。</a:t>
            </a:r>
            <a:endParaRPr lang="en-US" sz="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10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三年财务测算：从试点到专业版规模化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测算逻辑：高校/实验室试点 → 团队专业版 → 企业私有化与咨询。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49808" y="1353312"/>
            <a:ext cx="22402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59536" y="15910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第1年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" y="2011680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80万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78408" y="277063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5个高校试点 + 3个企业PoC + 2套教育包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3447288" y="1353312"/>
            <a:ext cx="22402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57016" y="15910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第2年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38728" y="2011680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420万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675888" y="277063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20个Team Pro + 8个Enterprise + 8个服务项目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6144768" y="1353312"/>
            <a:ext cx="22402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54496" y="15910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第3年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36208" y="2011680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1600万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373368" y="277063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60个Team Pro + 25个Enterprise + 20个项目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1005840" y="4041648"/>
            <a:ext cx="7132320" cy="402336"/>
          </a:xfrm>
          <a:prstGeom prst="roundRect">
            <a:avLst>
              <a:gd name="adj" fmla="val 2727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4169664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提交前必须用真实调研、试点意向或合同报价替换测算，避免被评委质疑数据来源。</a:t>
            </a:r>
            <a:endParaRPr lang="en-US" sz="10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10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实施路线：材料提交后继续把原型做成可验证产品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围绕竞赛、试点、知识产权和商业化四条线推进。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6928" y="1417320"/>
            <a:ext cx="1298448" cy="2267712"/>
          </a:xfrm>
          <a:prstGeom prst="roundRect">
            <a:avLst>
              <a:gd name="adj" fmla="val 8451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62763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2026.05-06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658368" y="1993392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校赛材料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76656" y="248716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申报书/PPT/演示视频/稳定 demo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1883664" y="2560320"/>
            <a:ext cx="283464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12848" y="1417320"/>
            <a:ext cx="1298448" cy="2267712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86000" y="162763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2026.06-08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2304288" y="1993392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场景验证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2322576" y="248716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良性/恶意 replay、检测率/阻断率报告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3529584" y="2560320"/>
            <a:ext cx="283464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858768" y="1417320"/>
            <a:ext cx="1298448" cy="2267712"/>
          </a:xfrm>
          <a:prstGeom prst="roundRect">
            <a:avLst>
              <a:gd name="adj" fmla="val 8451"/>
            </a:avLst>
          </a:prstGeom>
          <a:solidFill>
            <a:srgbClr val="F1F5F9"/>
          </a:solidFill>
          <a:ln w="12700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931920" y="162763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2026.08-10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3950208" y="1993392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试点应用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3968496" y="248716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课程/实验室/企业 PoC 反馈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5175504" y="2560320"/>
            <a:ext cx="283464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504688" y="1417320"/>
            <a:ext cx="1298448" cy="2267712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77840" y="162763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2026.10-2027.03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5596128" y="1993392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成果固化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5614416" y="248716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软著/专利/论文/合作证明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6821424" y="2560320"/>
            <a:ext cx="283464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150608" y="1417320"/>
            <a:ext cx="1298448" cy="2267712"/>
          </a:xfrm>
          <a:prstGeom prst="roundRect">
            <a:avLst>
              <a:gd name="adj" fmla="val 8451"/>
            </a:avLst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223760" y="162763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7242048" y="1993392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产品化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7260336" y="248716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专业版、多节点、企业私有化</a:t>
            </a:r>
            <a:endParaRPr lang="en-US" sz="87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10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团队分工：硬技术、产品、算法与商业材料协同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提交前将【待填】替换为真实姓名、学号、年级、学院与贡献证据。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30352" y="1225296"/>
            <a:ext cx="245059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362456"/>
            <a:ext cx="73152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1344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4944" y="1728216"/>
            <a:ext cx="21579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【待填】总体架构 / 答辩 / 进度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3319272" y="1225296"/>
            <a:ext cx="245059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47288" y="1362456"/>
            <a:ext cx="7315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84448" y="1344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eBPF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83864" y="1728216"/>
            <a:ext cx="21579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【待填】LSM / cgroup / tracepoints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6108192" y="1225296"/>
            <a:ext cx="245059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6208" y="1362456"/>
            <a:ext cx="7315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3368" y="1344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72784" y="1728216"/>
            <a:ext cx="21579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【待填】Go API / EventEnvelope / 策略</a:t>
            </a:r>
            <a:endParaRPr lang="en-US" sz="1010" dirty="0"/>
          </a:p>
        </p:txBody>
      </p:sp>
      <p:sp>
        <p:nvSpPr>
          <p:cNvPr id="21" name="Shape 19"/>
          <p:cNvSpPr/>
          <p:nvPr/>
        </p:nvSpPr>
        <p:spPr>
          <a:xfrm>
            <a:off x="530352" y="2459736"/>
            <a:ext cx="245059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" y="2596896"/>
            <a:ext cx="7315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25786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944" y="2962656"/>
            <a:ext cx="21579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【待填】Vue / 执行图谱 / 低代码</a:t>
            </a:r>
            <a:endParaRPr lang="en-US" sz="1010" dirty="0"/>
          </a:p>
        </p:txBody>
      </p:sp>
      <p:sp>
        <p:nvSpPr>
          <p:cNvPr id="25" name="Shape 23"/>
          <p:cNvSpPr/>
          <p:nvPr/>
        </p:nvSpPr>
        <p:spPr>
          <a:xfrm>
            <a:off x="3319272" y="2459736"/>
            <a:ext cx="245059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47288" y="2596896"/>
            <a:ext cx="7315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84448" y="25786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算法评测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83864" y="2962656"/>
            <a:ext cx="21579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【待填】semantic_alerts / ML / replay</a:t>
            </a:r>
            <a:endParaRPr lang="en-US" sz="1010" dirty="0"/>
          </a:p>
        </p:txBody>
      </p:sp>
      <p:sp>
        <p:nvSpPr>
          <p:cNvPr id="29" name="Shape 27"/>
          <p:cNvSpPr/>
          <p:nvPr/>
        </p:nvSpPr>
        <p:spPr>
          <a:xfrm>
            <a:off x="6108192" y="2459736"/>
            <a:ext cx="245059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36208" y="2596896"/>
            <a:ext cx="73152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73368" y="25786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商业调研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72784" y="2962656"/>
            <a:ext cx="21579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【待填】客户访谈 / 财务 / 路演</a:t>
            </a:r>
            <a:endParaRPr lang="en-US" sz="1010" dirty="0"/>
          </a:p>
        </p:txBody>
      </p:sp>
      <p:sp>
        <p:nvSpPr>
          <p:cNvPr id="33" name="Shape 31"/>
          <p:cNvSpPr/>
          <p:nvPr/>
        </p:nvSpPr>
        <p:spPr>
          <a:xfrm>
            <a:off x="822960" y="4069080"/>
            <a:ext cx="7452360" cy="420624"/>
          </a:xfrm>
          <a:prstGeom prst="roundRect">
            <a:avLst>
              <a:gd name="adj" fmla="val 26087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7552" y="4197096"/>
            <a:ext cx="7132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团队证明建议：commit 记录、模块负责人截图、导师指导记录、测试报告、软著/论文/专利分工。</a:t>
            </a:r>
            <a:endParaRPr lang="en-US" sz="10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9260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3429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61872" y="210312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风险与合规：高权限工具必须讲清楚边界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6400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评委会关注安全工具自身是否安全，需主动说明默认关闭、鉴权和脱敏。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" y="932688"/>
            <a:ext cx="82753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6928" y="1170432"/>
            <a:ext cx="2542032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4944" y="1307592"/>
            <a:ext cx="7315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12893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权限风险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1673352"/>
            <a:ext cx="2249424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后端需要加载 eBPF，保持 root/特权边界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写 API、shell、策略变更均有 token 与 runtime gate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3310128" y="1170432"/>
            <a:ext cx="2542032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38144" y="1307592"/>
            <a:ext cx="7315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75304" y="12893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隐私风险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1673352"/>
            <a:ext cx="2249424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TLS 明文捕获默认关闭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事件流只保留摘要/长度/角色/厂商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演示数据必须脱敏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6053328" y="1170432"/>
            <a:ext cx="2542032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81344" y="1307592"/>
            <a:ext cx="7315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504" y="12893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误报风险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1673352"/>
            <a:ext cx="2249424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先观察模式再阻断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回放 benchmark 调优</a:t>
            </a:r>
            <a:endParaRPr lang="en-US" sz="1010" dirty="0"/>
          </a:p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ML/LLM 建议需人工确认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841248" y="422452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合规表述：本项目用于本地/授权环境的 Agent 安全观测与控制，不采集未授权数据。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92608"/>
            <a:ext cx="852220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0058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总结：让 AI Agent 可观测、可解释、可回放、可控制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3504" y="1755648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我们用 eBPF 把系统事实拿到，用 hooks/wrapper 把 Agent 语义接上，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再用 BPF LSM / cgroup / 执行图谱完成安全闭环。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22402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926080"/>
            <a:ext cx="7315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2907792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需要支持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3291840"/>
            <a:ext cx="194767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导师/学院资源、试点用户、软著/专利指导</a:t>
            </a:r>
            <a:endParaRPr lang="en-US" sz="1010" dirty="0"/>
          </a:p>
        </p:txBody>
      </p:sp>
      <p:sp>
        <p:nvSpPr>
          <p:cNvPr id="9" name="Shape 7"/>
          <p:cNvSpPr/>
          <p:nvPr/>
        </p:nvSpPr>
        <p:spPr>
          <a:xfrm>
            <a:off x="3246120" y="2788920"/>
            <a:ext cx="22402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74136" y="2926080"/>
            <a:ext cx="7315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1296" y="2907792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10712" y="3291840"/>
            <a:ext cx="194767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补真实团队信息、联系方式、调研数据与证明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5852160" y="2788920"/>
            <a:ext cx="22402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0176" y="2926080"/>
            <a:ext cx="7315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17336" y="2907792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16752" y="3291840"/>
            <a:ext cx="194767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校赛晋级、省赛打磨、形成可转化产品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66928" y="43708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谢谢各位老师，请批评指正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366760" y="468172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473202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1603</Words>
  <Application>Microsoft Office PowerPoint</Application>
  <PresentationFormat>全屏显示(16:9)</PresentationFormat>
  <Paragraphs>335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负责人待填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eBPF Filter：面向 AI Agent 的内核级运行时安全与可观测平台</dc:title>
  <dc:subject>中国国际大学生创新大赛（2026）项目答辩/路演</dc:subject>
  <dc:creator>Agent eBPF Filter Team</dc:creator>
  <cp:lastModifiedBy>li yi</cp:lastModifiedBy>
  <cp:revision>2</cp:revision>
  <dcterms:created xsi:type="dcterms:W3CDTF">2026-05-25T04:44:20Z</dcterms:created>
  <dcterms:modified xsi:type="dcterms:W3CDTF">2026-05-26T01:10:36Z</dcterms:modified>
</cp:coreProperties>
</file>