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44768" y="73152"/>
            <a:ext cx="2999232" cy="5070348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512064"/>
            <a:ext cx="35661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6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国创赛2026 · 高教主赛道 · 创意组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585216" y="950976"/>
            <a:ext cx="3163824" cy="0"/>
          </a:xfrm>
          <a:prstGeom prst="line">
            <a:avLst/>
          </a:prstGeom>
          <a:noFill/>
          <a:ln w="26670">
            <a:solidFill>
              <a:srgbClr val="167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16152"/>
            <a:ext cx="534924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102A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eBPF Filter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85216" y="1847088"/>
            <a:ext cx="5166360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 AI Agent 的</a:t>
            </a:r>
            <a:endParaRPr lang="en-US" sz="230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23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内核级运行时安全与可观测平台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3504" y="2816352"/>
            <a:ext cx="5285232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不是罗列更多功能，而是把一个关键问题做深：</a:t>
            </a:r>
            <a:endParaRPr lang="en-US" sz="102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的语义承诺，如何在操作系统事实里被验证和约束。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03504" y="3456432"/>
            <a:ext cx="1170432" cy="256032"/>
          </a:xfrm>
          <a:prstGeom prst="roundRect">
            <a:avLst>
              <a:gd name="adj" fmla="val 28571"/>
            </a:avLst>
          </a:prstGeom>
          <a:solidFill>
            <a:srgbClr val="EAF5FC"/>
          </a:solidFill>
          <a:ln w="10160">
            <a:solidFill>
              <a:srgbClr val="1677B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525012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内核事实采集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01952" y="3456432"/>
            <a:ext cx="1627632" cy="256032"/>
          </a:xfrm>
          <a:prstGeom prst="roundRect">
            <a:avLst>
              <a:gd name="adj" fmla="val 28571"/>
            </a:avLst>
          </a:prstGeom>
          <a:solidFill>
            <a:srgbClr val="EAF7F1"/>
          </a:solidFill>
          <a:ln w="10160">
            <a:solidFill>
              <a:srgbClr val="23865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3525012"/>
            <a:ext cx="15179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238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LSM/cgroup 前置阻断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75888" y="3456432"/>
            <a:ext cx="1481328" cy="256032"/>
          </a:xfrm>
          <a:prstGeom prst="roundRect">
            <a:avLst>
              <a:gd name="adj" fmla="val 28571"/>
            </a:avLst>
          </a:prstGeom>
          <a:solidFill>
            <a:srgbClr val="F1F0FA"/>
          </a:solidFill>
          <a:ln w="10160">
            <a:solidFill>
              <a:srgbClr val="5B55A3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30752" y="3525012"/>
            <a:ext cx="137160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5B5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语义-事实一致性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03504" y="4160520"/>
            <a:ext cx="370332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9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负责人/学院/联系方式：</a:t>
            </a:r>
            <a:endParaRPr lang="en-US" sz="79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9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【待填】</a:t>
            </a:r>
            <a:endParaRPr lang="en-US" sz="79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9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推荐学院：【待填】</a:t>
            </a:r>
            <a:endParaRPr lang="en-US" sz="79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9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负责人：【待填】</a:t>
            </a:r>
            <a:endParaRPr lang="en-US" sz="79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9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手机号/QQ：【待填】</a:t>
            </a:r>
            <a:endParaRPr lang="en-US" sz="790" dirty="0"/>
          </a:p>
        </p:txBody>
      </p:sp>
      <p:sp>
        <p:nvSpPr>
          <p:cNvPr id="18" name="Text 16"/>
          <p:cNvSpPr/>
          <p:nvPr/>
        </p:nvSpPr>
        <p:spPr>
          <a:xfrm>
            <a:off x="3968496" y="4599432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r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82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技术深度与应用前景版 · 2026-05-26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547104" y="640080"/>
            <a:ext cx="2139696" cy="941832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822960"/>
            <a:ext cx="17373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核心主张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11696" y="1115568"/>
            <a:ext cx="1810512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从“看得到”升级到“拦得住、讲得清、能落地”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6547104" y="1847088"/>
            <a:ext cx="2139696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65976" y="1938528"/>
            <a:ext cx="190195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层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6665976" y="2231136"/>
            <a:ext cx="190195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采集、归因、判定、阻断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6547104" y="2706624"/>
            <a:ext cx="2139696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65976" y="2798064"/>
            <a:ext cx="190195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238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类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6665976" y="3090672"/>
            <a:ext cx="190195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高校/团队/企业落地场景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6547104" y="3566160"/>
            <a:ext cx="2139696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65976" y="3657600"/>
            <a:ext cx="190195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5B5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条</a:t>
            </a:r>
            <a:endParaRPr lang="en-US" sz="1750" dirty="0"/>
          </a:p>
        </p:txBody>
      </p:sp>
      <p:sp>
        <p:nvSpPr>
          <p:cNvPr id="30" name="Text 28"/>
          <p:cNvSpPr/>
          <p:nvPr/>
        </p:nvSpPr>
        <p:spPr>
          <a:xfrm>
            <a:off x="6665976" y="3950208"/>
            <a:ext cx="190195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可复盘 Agent 证据链</a:t>
            </a:r>
            <a:endParaRPr lang="en-US" sz="69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00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路演结构：少讲技术广度，深讲一条闭环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前半段证明为什么必须做，主体部分讲清技术深水区，后半段说明能在哪些场景形成价值。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1389888"/>
            <a:ext cx="0" cy="2688336"/>
          </a:xfrm>
          <a:prstGeom prst="line">
            <a:avLst/>
          </a:prstGeom>
          <a:noFill/>
          <a:ln w="1524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188720"/>
            <a:ext cx="347472" cy="347472"/>
          </a:xfrm>
          <a:prstGeom prst="ellipse">
            <a:avLst/>
          </a:prstGeom>
          <a:solidFill>
            <a:srgbClr val="1677B8"/>
          </a:solidFill>
          <a:ln w="1524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307592"/>
            <a:ext cx="34747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20" dirty="0"/>
          </a:p>
        </p:txBody>
      </p:sp>
      <p:sp>
        <p:nvSpPr>
          <p:cNvPr id="14" name="Text 12"/>
          <p:cNvSpPr/>
          <p:nvPr/>
        </p:nvSpPr>
        <p:spPr>
          <a:xfrm>
            <a:off x="1335024" y="1170432"/>
            <a:ext cx="14813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为什么是刚需</a:t>
            </a:r>
            <a:endParaRPr lang="en-US" sz="1180" dirty="0"/>
          </a:p>
        </p:txBody>
      </p:sp>
      <p:sp>
        <p:nvSpPr>
          <p:cNvPr id="15" name="Text 13"/>
          <p:cNvSpPr/>
          <p:nvPr/>
        </p:nvSpPr>
        <p:spPr>
          <a:xfrm>
            <a:off x="2980944" y="1188720"/>
            <a:ext cx="5394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 使用率、密钥泄露和 Copilot/MCP 案例说明运行时边界已经成为现实问题。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786384" y="1810512"/>
            <a:ext cx="347472" cy="347472"/>
          </a:xfrm>
          <a:prstGeom prst="ellipse">
            <a:avLst/>
          </a:prstGeom>
          <a:solidFill>
            <a:srgbClr val="1677B8"/>
          </a:solidFill>
          <a:ln w="15240">
            <a:solidFill>
              <a:srgbClr val="167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1929384"/>
            <a:ext cx="34747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20" dirty="0"/>
          </a:p>
        </p:txBody>
      </p:sp>
      <p:sp>
        <p:nvSpPr>
          <p:cNvPr id="18" name="Text 16"/>
          <p:cNvSpPr/>
          <p:nvPr/>
        </p:nvSpPr>
        <p:spPr>
          <a:xfrm>
            <a:off x="1335024" y="1792224"/>
            <a:ext cx="14813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深水区一：内核事实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2980944" y="1810512"/>
            <a:ext cx="5394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 exec/file/net/fork 采集、ringbuf、map、上下文字段，而不是泛泛讲“监控”。</a:t>
            </a:r>
            <a:endParaRPr lang="en-US" sz="810" dirty="0"/>
          </a:p>
        </p:txBody>
      </p:sp>
      <p:sp>
        <p:nvSpPr>
          <p:cNvPr id="20" name="Shape 18"/>
          <p:cNvSpPr/>
          <p:nvPr/>
        </p:nvSpPr>
        <p:spPr>
          <a:xfrm>
            <a:off x="786384" y="2432304"/>
            <a:ext cx="347472" cy="347472"/>
          </a:xfrm>
          <a:prstGeom prst="ellipse">
            <a:avLst/>
          </a:prstGeom>
          <a:solidFill>
            <a:srgbClr val="1677B8"/>
          </a:solidFill>
          <a:ln w="15240">
            <a:solidFill>
              <a:srgbClr val="1677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2551176"/>
            <a:ext cx="34747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20" dirty="0"/>
          </a:p>
        </p:txBody>
      </p:sp>
      <p:sp>
        <p:nvSpPr>
          <p:cNvPr id="22" name="Text 20"/>
          <p:cNvSpPr/>
          <p:nvPr/>
        </p:nvSpPr>
        <p:spPr>
          <a:xfrm>
            <a:off x="1335024" y="2414016"/>
            <a:ext cx="14813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深水区二：前置阻断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2980944" y="2432304"/>
            <a:ext cx="5394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 和 cgroup 把策略放到危险动作发生前，形成确定性拒绝证据。</a:t>
            </a:r>
            <a:endParaRPr lang="en-US" sz="810" dirty="0"/>
          </a:p>
        </p:txBody>
      </p:sp>
      <p:sp>
        <p:nvSpPr>
          <p:cNvPr id="24" name="Shape 22"/>
          <p:cNvSpPr/>
          <p:nvPr/>
        </p:nvSpPr>
        <p:spPr>
          <a:xfrm>
            <a:off x="786384" y="3054096"/>
            <a:ext cx="347472" cy="3474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7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3172968"/>
            <a:ext cx="34747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1335024" y="3035808"/>
            <a:ext cx="14813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深水区三：语义归因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2980944" y="3054096"/>
            <a:ext cx="5394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run/task/tool_call 与 PID、PPID、cwd、cgroup、路径、网络端点连成证据链。</a:t>
            </a:r>
            <a:endParaRPr lang="en-US" sz="810" dirty="0"/>
          </a:p>
        </p:txBody>
      </p:sp>
      <p:sp>
        <p:nvSpPr>
          <p:cNvPr id="28" name="Shape 26"/>
          <p:cNvSpPr/>
          <p:nvPr/>
        </p:nvSpPr>
        <p:spPr>
          <a:xfrm>
            <a:off x="786384" y="3675888"/>
            <a:ext cx="347472" cy="34747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677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3794760"/>
            <a:ext cx="347472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20" dirty="0"/>
          </a:p>
        </p:txBody>
      </p:sp>
      <p:sp>
        <p:nvSpPr>
          <p:cNvPr id="30" name="Text 28"/>
          <p:cNvSpPr/>
          <p:nvPr/>
        </p:nvSpPr>
        <p:spPr>
          <a:xfrm>
            <a:off x="1335024" y="3657600"/>
            <a:ext cx="148132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2980944" y="3675888"/>
            <a:ext cx="539496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高校实验室、AI coding 团队、企业私有化和教育服务，分别给出落地价值。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749808" y="4352544"/>
            <a:ext cx="7818120" cy="310896"/>
          </a:xfrm>
          <a:prstGeom prst="roundRect">
            <a:avLst>
              <a:gd name="adj" fmla="val 5882"/>
            </a:avLst>
          </a:prstGeom>
          <a:solidFill>
            <a:srgbClr val="F3F8FC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2688" y="4448556"/>
            <a:ext cx="7452360" cy="822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答辩策略：避免“我们还做了 X/Y/Z”的横向铺陈，改为反复回答“为什么这个内核闭环难、为什么能落地”。</a:t>
            </a:r>
            <a:endParaRPr lang="en-US" sz="7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数据证据：Agent 普及越快，运行时事实越稀缺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公开调研和安全报告共同指向同一个缺口：AI 工具进入执行链，但审计和控制仍停留在外围。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61872"/>
            <a:ext cx="1517904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353312"/>
            <a:ext cx="1280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85800" y="1645920"/>
            <a:ext cx="12801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Stack Overflow：正在使用或计划使用 AI 开发工具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2212848" y="1261872"/>
            <a:ext cx="1664208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353312"/>
            <a:ext cx="142646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C7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28.65M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2331720" y="1645920"/>
            <a:ext cx="142646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GitGuardian：2025 年 public GitHub 新增硬编码密钥</a:t>
            </a:r>
            <a:endParaRPr lang="en-US" sz="690" dirty="0"/>
          </a:p>
        </p:txBody>
      </p:sp>
      <p:sp>
        <p:nvSpPr>
          <p:cNvPr id="17" name="Shape 15"/>
          <p:cNvSpPr/>
          <p:nvPr/>
        </p:nvSpPr>
        <p:spPr>
          <a:xfrm>
            <a:off x="4005072" y="1261872"/>
            <a:ext cx="1389888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23944" y="1353312"/>
            <a:ext cx="11521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5B5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$4.44M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123944" y="1645920"/>
            <a:ext cx="1152144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IBM：全球平均数据泄露成本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5522976" y="1261872"/>
            <a:ext cx="1408176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41848" y="1353312"/>
            <a:ext cx="1170432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C66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5641848" y="1645920"/>
            <a:ext cx="1170432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IBM：AI 相关事件组织缺少适当 AI 访问控制</a:t>
            </a:r>
            <a:endParaRPr lang="en-US" sz="690" dirty="0"/>
          </a:p>
        </p:txBody>
      </p:sp>
      <p:sp>
        <p:nvSpPr>
          <p:cNvPr id="23" name="Shape 21"/>
          <p:cNvSpPr/>
          <p:nvPr/>
        </p:nvSpPr>
        <p:spPr>
          <a:xfrm>
            <a:off x="7059168" y="1261872"/>
            <a:ext cx="1517904" cy="658368"/>
          </a:xfrm>
          <a:prstGeom prst="roundRect">
            <a:avLst>
              <a:gd name="adj" fmla="val 486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1353312"/>
            <a:ext cx="1280160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50" b="1" dirty="0">
                <a:solidFill>
                  <a:srgbClr val="238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24,008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178040" y="1645920"/>
            <a:ext cx="12801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9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GitGuardian：公开 MCP 配置中暴露的唯一密钥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566928" y="2212848"/>
            <a:ext cx="3950208" cy="2084832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2395728"/>
            <a:ext cx="3566160" cy="142646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pic>
        <p:nvPicPr>
          <p:cNvPr id="28" name="Image 0" descr="/home/steve/文档/vibe coding/agent-ebpf-filiter/docs/competition/2026-guochuang/output/ppt_assets_light/stackoverflow_ai_u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053" y="2395728"/>
            <a:ext cx="3084246" cy="142646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86384" y="3931920"/>
            <a:ext cx="352044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采用率提升不是重点，重点是 Agent 已经开始触发终端、文件和网络行为。安全边界必须落到运行时。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4718304" y="2212848"/>
            <a:ext cx="3858768" cy="2084832"/>
          </a:xfrm>
          <a:prstGeom prst="roundRect">
            <a:avLst>
              <a:gd name="adj" fmla="val 1535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19472" y="2395728"/>
            <a:ext cx="3474720" cy="1426464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pic>
        <p:nvPicPr>
          <p:cNvPr id="32" name="Image 1" descr="/home/steve/文档/vibe coding/agent-ebpf-filiter/docs/competition/2026-guochuang/output/ppt_assets_light/gitguardian_commits_develop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505" y="2395728"/>
            <a:ext cx="1648655" cy="142646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937760" y="3931920"/>
            <a:ext cx="3401568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软件生产提速后，密钥、依赖脚本、MCP 配置的扩散速度也变快；只看 prompt 已经不够。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512064" y="4626864"/>
            <a:ext cx="7671816" cy="0"/>
          </a:xfrm>
          <a:prstGeom prst="line">
            <a:avLst/>
          </a:prstGeom>
          <a:noFill/>
          <a:ln w="10160">
            <a:solidFill>
              <a:srgbClr val="E7EEF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30352" y="4718304"/>
            <a:ext cx="7543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60" dirty="0">
                <a:solidFill>
                  <a:srgbClr val="82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数据/图片：Stack Overflow Developer Survey 2025；GitGuardian State of Secrets Sprawl 2026；IBM Cost of a Data Breach Report 2025</a:t>
            </a:r>
            <a:endParaRPr lang="en-US" sz="6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真实案例：风险不是模型幻觉，而是执行链越界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报告截图保留为外部证据，但结论聚焦到一个工程问题：如何把越界行为在 OS 层归因和拦截。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61872"/>
            <a:ext cx="2377440" cy="310896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1444752"/>
            <a:ext cx="2048256" cy="1325880"/>
          </a:xfrm>
          <a:prstGeom prst="roundRect">
            <a:avLst>
              <a:gd name="adj" fmla="val 2069"/>
            </a:avLst>
          </a:prstGeom>
          <a:solidFill>
            <a:srgbClr val="F8FAFC"/>
          </a:solidFill>
          <a:ln w="10160">
            <a:solidFill>
              <a:srgbClr val="E7EEF4"/>
            </a:solidFill>
            <a:prstDash val="solid"/>
          </a:ln>
        </p:spPr>
      </p:sp>
      <p:pic>
        <p:nvPicPr>
          <p:cNvPr id="13" name="Image 0" descr="/home/steve/文档/vibe coding/agent-ebpf-filiter/docs/competition/2026-guochuang/output/ppt_assets_light/csa_copilot_cover_thu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245" y="1444752"/>
            <a:ext cx="1862807" cy="1325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31520" y="2999232"/>
            <a:ext cx="204825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30" b="1" dirty="0">
                <a:solidFill>
                  <a:srgbClr val="C743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上下文越权</a:t>
            </a:r>
            <a:endParaRPr lang="en-US" sz="1130" dirty="0"/>
          </a:p>
        </p:txBody>
      </p:sp>
      <p:sp>
        <p:nvSpPr>
          <p:cNvPr id="15" name="Text 12"/>
          <p:cNvSpPr/>
          <p:nvPr/>
        </p:nvSpPr>
        <p:spPr>
          <a:xfrm>
            <a:off x="731520" y="3364992"/>
            <a:ext cx="202996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/ EchoLeak 类案例说明：外部输入可能触发内部知识检索或数据泄露，风险发生在工具链边界。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731520" y="4023360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FDEEEE"/>
          </a:solidFill>
          <a:ln w="10160">
            <a:solidFill>
              <a:srgbClr val="C74343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4091940"/>
            <a:ext cx="115214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C743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 + 拦截 + 回放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383280" y="1261872"/>
            <a:ext cx="2377440" cy="310896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47872" y="1444752"/>
            <a:ext cx="2048256" cy="1325880"/>
          </a:xfrm>
          <a:prstGeom prst="roundRect">
            <a:avLst>
              <a:gd name="adj" fmla="val 2069"/>
            </a:avLst>
          </a:prstGeom>
          <a:solidFill>
            <a:srgbClr val="F8FAFC"/>
          </a:solidFill>
          <a:ln w="10160">
            <a:solidFill>
              <a:srgbClr val="E7EEF4"/>
            </a:solidFill>
            <a:prstDash val="solid"/>
          </a:ln>
        </p:spPr>
      </p:sp>
      <p:pic>
        <p:nvPicPr>
          <p:cNvPr id="20" name="Image 1" descr="/home/steve/文档/vibe coding/agent-ebpf-filiter/docs/competition/2026-guochuang/output/ppt_assets_light/gitguardian_mcp_valid_secr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607281"/>
            <a:ext cx="2048256" cy="100082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47872" y="2999232"/>
            <a:ext cx="204825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30" b="1" dirty="0">
                <a:solidFill>
                  <a:srgbClr val="238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配置即攻击面</a:t>
            </a:r>
            <a:endParaRPr lang="en-US" sz="1130" dirty="0"/>
          </a:p>
        </p:txBody>
      </p:sp>
      <p:sp>
        <p:nvSpPr>
          <p:cNvPr id="22" name="Text 18"/>
          <p:cNvSpPr/>
          <p:nvPr/>
        </p:nvSpPr>
        <p:spPr>
          <a:xfrm>
            <a:off x="3547872" y="3364992"/>
            <a:ext cx="202996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配置中的有效密钥进入公共仓库，说明 Agent 生态的本机配置、工具描述和凭据都需要治理。</a:t>
            </a:r>
            <a:endParaRPr lang="en-US" sz="720" dirty="0"/>
          </a:p>
        </p:txBody>
      </p:sp>
      <p:sp>
        <p:nvSpPr>
          <p:cNvPr id="23" name="Shape 19"/>
          <p:cNvSpPr/>
          <p:nvPr/>
        </p:nvSpPr>
        <p:spPr>
          <a:xfrm>
            <a:off x="3547872" y="4023360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AF7F1"/>
          </a:solidFill>
          <a:ln w="10160">
            <a:solidFill>
              <a:srgbClr val="23865F">
                <a:alpha val="4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02736" y="4091940"/>
            <a:ext cx="115214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238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 + 拦截 + 回放</a:t>
            </a:r>
            <a:endParaRPr lang="en-US" sz="750" dirty="0"/>
          </a:p>
        </p:txBody>
      </p:sp>
      <p:sp>
        <p:nvSpPr>
          <p:cNvPr id="25" name="Shape 21"/>
          <p:cNvSpPr/>
          <p:nvPr/>
        </p:nvSpPr>
        <p:spPr>
          <a:xfrm>
            <a:off x="6199632" y="1261872"/>
            <a:ext cx="2377440" cy="310896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364224" y="1444752"/>
            <a:ext cx="2048256" cy="1325880"/>
          </a:xfrm>
          <a:prstGeom prst="roundRect">
            <a:avLst>
              <a:gd name="adj" fmla="val 2069"/>
            </a:avLst>
          </a:prstGeom>
          <a:solidFill>
            <a:srgbClr val="F8FAFC"/>
          </a:solidFill>
          <a:ln w="10160">
            <a:solidFill>
              <a:srgbClr val="E7EEF4"/>
            </a:solidFill>
            <a:prstDash val="solid"/>
          </a:ln>
        </p:spPr>
      </p:sp>
      <p:pic>
        <p:nvPicPr>
          <p:cNvPr id="27" name="Image 2" descr="/home/steve/文档/vibe coding/agent-ebpf-filiter/docs/competition/2026-guochuang/output/ppt_assets_light/owasp_llm_cover_thum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511288"/>
            <a:ext cx="2048256" cy="119280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364224" y="2999232"/>
            <a:ext cx="2048256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3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工具误用</a:t>
            </a:r>
            <a:endParaRPr lang="en-US" sz="1130" dirty="0"/>
          </a:p>
        </p:txBody>
      </p:sp>
      <p:sp>
        <p:nvSpPr>
          <p:cNvPr id="29" name="Text 24"/>
          <p:cNvSpPr/>
          <p:nvPr/>
        </p:nvSpPr>
        <p:spPr>
          <a:xfrm>
            <a:off x="6364224" y="3364992"/>
            <a:ext cx="2029968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 将 tool misuse、excessive agency、untraceability 列为重点，正对应本项目的运行时证据链。</a:t>
            </a:r>
            <a:endParaRPr lang="en-US" sz="720" dirty="0"/>
          </a:p>
        </p:txBody>
      </p:sp>
      <p:sp>
        <p:nvSpPr>
          <p:cNvPr id="30" name="Shape 25"/>
          <p:cNvSpPr/>
          <p:nvPr/>
        </p:nvSpPr>
        <p:spPr>
          <a:xfrm>
            <a:off x="6364224" y="4023360"/>
            <a:ext cx="1261872" cy="256032"/>
          </a:xfrm>
          <a:prstGeom prst="roundRect">
            <a:avLst>
              <a:gd name="adj" fmla="val 28571"/>
            </a:avLst>
          </a:prstGeom>
          <a:solidFill>
            <a:srgbClr val="EAF5FC"/>
          </a:solidFill>
          <a:ln w="10160">
            <a:solidFill>
              <a:srgbClr val="1677B8">
                <a:alpha val="45000"/>
              </a:srgbClr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419088" y="4091940"/>
            <a:ext cx="115214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 + 拦截 + 回放</a:t>
            </a:r>
            <a:endParaRPr lang="en-US" sz="750" dirty="0"/>
          </a:p>
        </p:txBody>
      </p:sp>
      <p:sp>
        <p:nvSpPr>
          <p:cNvPr id="32" name="Shape 27"/>
          <p:cNvSpPr/>
          <p:nvPr/>
        </p:nvSpPr>
        <p:spPr>
          <a:xfrm>
            <a:off x="512064" y="4626864"/>
            <a:ext cx="7671816" cy="0"/>
          </a:xfrm>
          <a:prstGeom prst="line">
            <a:avLst/>
          </a:prstGeom>
          <a:noFill/>
          <a:ln w="10160">
            <a:solidFill>
              <a:srgbClr val="E7EEF4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530352" y="4718304"/>
            <a:ext cx="7543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60" dirty="0">
                <a:solidFill>
                  <a:srgbClr val="82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案例图片：Cloud Security Alliance 2026 Copilot research note；GitGuardian 2026 report；OWASP Top 10 for LLM Applications 2025 / Agentic AI Threats</a:t>
            </a:r>
            <a:endParaRPr lang="en-US" sz="6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核心问题：不是“多做几个监控项”，而是补上证据链断点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技术深度集中在一个闭环：Agent 声称要做什么、系统实际做了什么、危险动作是否被前置拦截。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243584"/>
            <a:ext cx="2450592" cy="2249424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243584"/>
            <a:ext cx="45720" cy="2249424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389888"/>
            <a:ext cx="215798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断点一：意图到进程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700784"/>
            <a:ext cx="2139696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的 run/task/tool_call 通常进入 shell，再派生 python/node/git/npm/curl。传统日志看到 PID，却丢失了意图来源。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346704" y="1243584"/>
            <a:ext cx="2450592" cy="2249424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1243584"/>
            <a:ext cx="45720" cy="2249424"/>
          </a:xfrm>
          <a:prstGeom prst="rect">
            <a:avLst/>
          </a:prstGeom>
          <a:solidFill>
            <a:srgbClr val="C66A1D"/>
          </a:solidFill>
          <a:ln w="12700">
            <a:solidFill>
              <a:srgbClr val="C66A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1296" y="1389888"/>
            <a:ext cx="215798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断点二：进程到资源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11296" y="1700784"/>
            <a:ext cx="2139696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危险行为落在 open/connect/sendmsg/rename 等 OS 事件上，必须记录路径、端点、cwd、cgroup 和父子关系。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035040" y="1243584"/>
            <a:ext cx="2450592" cy="2249424"/>
          </a:xfrm>
          <a:prstGeom prst="roundRect">
            <a:avLst>
              <a:gd name="adj" fmla="val 142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243584"/>
            <a:ext cx="45720" cy="2249424"/>
          </a:xfrm>
          <a:prstGeom prst="rect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389888"/>
            <a:ext cx="215798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断点三：告警到阻断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1700784"/>
            <a:ext cx="2139696" cy="1700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事后告警无法证明动作没有发生。对高风险路径和外联，需要在 LSM/cgroup 决策点返回拒绝。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41248" y="3913632"/>
            <a:ext cx="7424928" cy="438912"/>
          </a:xfrm>
          <a:prstGeom prst="roundRect">
            <a:avLst>
              <a:gd name="adj" fmla="val 4167"/>
            </a:avLst>
          </a:prstGeom>
          <a:solidFill>
            <a:srgbClr val="F3F8FC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059936"/>
            <a:ext cx="7059168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因此本项目不追求“覆盖所有安全功能”，而是把 Agent 运行时安全最难的一段——语义归因 + 内核事实 + 前置阻断——做深。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总体架构：四层闭环，每层只解决一个深问题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从语义入口到内核决策再到证据回放，架构强调深度链路而不是横向功能堆叠。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298448"/>
            <a:ext cx="7607808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298448"/>
            <a:ext cx="73152" cy="457200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1444752"/>
            <a:ext cx="10058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4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语义入口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2267712" y="1444752"/>
            <a:ext cx="57607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wrapper / native hooks / adapters 捕获 run、task、tool_call、intent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0" y="1773936"/>
            <a:ext cx="0" cy="128016"/>
          </a:xfrm>
          <a:prstGeom prst="line">
            <a:avLst/>
          </a:prstGeom>
          <a:noFill/>
          <a:ln w="1270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" y="1920240"/>
            <a:ext cx="7607808" cy="457200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1920240"/>
            <a:ext cx="73152" cy="457200"/>
          </a:xfrm>
          <a:prstGeom prst="rect">
            <a:avLst/>
          </a:prstGeom>
          <a:solidFill>
            <a:srgbClr val="5B55A3"/>
          </a:solidFill>
          <a:ln w="12700">
            <a:solidFill>
              <a:srgbClr val="5B55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2066544"/>
            <a:ext cx="10058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40" b="1" dirty="0">
                <a:solidFill>
                  <a:srgbClr val="5B55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上下文继承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2267712" y="2066544"/>
            <a:ext cx="57607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agent_run_id / task_id / tool_call_id / trace_id 随 PID、PPID、cgroup 传播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0" y="2395728"/>
            <a:ext cx="0" cy="128016"/>
          </a:xfrm>
          <a:prstGeom prst="line">
            <a:avLst/>
          </a:prstGeom>
          <a:noFill/>
          <a:ln w="1270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68096" y="2542032"/>
            <a:ext cx="7607808" cy="457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" y="2542032"/>
            <a:ext cx="73152" cy="457200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2688336"/>
            <a:ext cx="10058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40" b="1" dirty="0">
                <a:solidFill>
                  <a:srgbClr val="238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内核事实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2267712" y="2688336"/>
            <a:ext cx="57607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采集 exec、file、net、fork，形成不可伪造的 OS 行为证据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0" cy="128016"/>
          </a:xfrm>
          <a:prstGeom prst="line">
            <a:avLst/>
          </a:prstGeom>
          <a:noFill/>
          <a:ln w="1270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68096" y="3163824"/>
            <a:ext cx="7607808" cy="457200"/>
          </a:xfrm>
          <a:prstGeom prst="roundRect">
            <a:avLst>
              <a:gd name="adj" fmla="val 4000"/>
            </a:avLst>
          </a:prstGeom>
          <a:solidFill>
            <a:srgbClr val="F3F8FC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8096" y="3163824"/>
            <a:ext cx="73152" cy="457200"/>
          </a:xfrm>
          <a:prstGeom prst="rect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3310128"/>
            <a:ext cx="10058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40" b="1" dirty="0">
                <a:solidFill>
                  <a:srgbClr val="C743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前置处置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2267712" y="3310128"/>
            <a:ext cx="57607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 与 cgroup 在动作发生前做 ALLOW / ALERT / BLOCK / REWRITE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987552" y="4187952"/>
            <a:ext cx="7168896" cy="310896"/>
          </a:xfrm>
          <a:prstGeom prst="roundRect">
            <a:avLst>
              <a:gd name="adj" fmla="val 5882"/>
            </a:avLst>
          </a:prstGeom>
          <a:solidFill>
            <a:srgbClr val="EDF5FB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70432" y="4288536"/>
            <a:ext cx="6803136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可答辩表达：我们不是做一个“安全看板”，而是把 Agent 意图和内核事实接成一条可验证、可阻断、可回放的闭环。</a:t>
            </a:r>
            <a:endParaRPr lang="en-US" sz="7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技术深水区一：eBPF 事实采集不是日志替代，而是可信证据底座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重点解释为什么选 eBPF：低侵入、内核态事件源、可关联进程树和资源对象。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225296"/>
            <a:ext cx="2331720" cy="2157984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225296"/>
            <a:ext cx="45720" cy="2157984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371600"/>
            <a:ext cx="203911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采集点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1682496"/>
            <a:ext cx="2020824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execve / openat / connect / sendto / recvfrom / bind / unlink / mkdir / ioctl 等关键 syscall 与网络路径。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145536" y="1225296"/>
            <a:ext cx="2331720" cy="2157984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45536" y="1225296"/>
            <a:ext cx="45720" cy="2157984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0128" y="1371600"/>
            <a:ext cx="203911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数据路径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1682496"/>
            <a:ext cx="2020824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map 维护 agent_pids、tracked_comms、tracked_paths；ringbuf 将事件送到 Go runtime。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650992" y="1225296"/>
            <a:ext cx="2834640" cy="2157984"/>
          </a:xfrm>
          <a:prstGeom prst="roundRect">
            <a:avLst>
              <a:gd name="adj" fmla="val 148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50992" y="1225296"/>
            <a:ext cx="45720" cy="2157984"/>
          </a:xfrm>
          <a:prstGeom prst="rect">
            <a:avLst/>
          </a:prstGeom>
          <a:solidFill>
            <a:srgbClr val="5B55A3"/>
          </a:solidFill>
          <a:ln w="12700">
            <a:solidFill>
              <a:srgbClr val="5B55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15584" y="1371600"/>
            <a:ext cx="25420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证据字段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15584" y="1682496"/>
            <a:ext cx="2523744" cy="16093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PID/TGID/PPID、comm、cwd、路径、网络端点、cgroup_id、时间戳、策略结果，统一进入 EventEnvelope。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41248" y="3749040"/>
            <a:ext cx="2834640" cy="566928"/>
          </a:xfrm>
          <a:prstGeom prst="roundRect">
            <a:avLst>
              <a:gd name="adj" fmla="val 3226"/>
            </a:avLst>
          </a:prstGeom>
          <a:solidFill>
            <a:srgbClr val="F6F9FC"/>
          </a:solidFill>
          <a:ln w="10160">
            <a:solidFill>
              <a:srgbClr val="DC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1832" y="3849624"/>
            <a:ext cx="263347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70" dirty="0">
                <a:solidFill>
                  <a:srgbClr val="385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backend/ebpf/agent_tracker.c</a:t>
            </a:r>
            <a:endParaRPr lang="en-US" sz="6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70" dirty="0">
                <a:solidFill>
                  <a:srgbClr val="385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backend/network_events.go</a:t>
            </a:r>
            <a:endParaRPr lang="en-US" sz="6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70" dirty="0">
                <a:solidFill>
                  <a:srgbClr val="385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backend/runtime_state.go</a:t>
            </a:r>
            <a:endParaRPr lang="en-US" sz="67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670" dirty="0">
                <a:solidFill>
                  <a:srgbClr val="3856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backend/event_envelope.go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3931920" y="3730752"/>
            <a:ext cx="4279392" cy="603504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3730752"/>
            <a:ext cx="1353312" cy="603504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78224" y="3977640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技术难点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0" y="3849624"/>
            <a:ext cx="254203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既要拿到足够细的事实字段，又不能把每个 syscall 都变成高开销日志；因此只采关键路径，并用 map/filter 降低噪声。</a:t>
            </a:r>
            <a:endParaRPr lang="en-US" sz="7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技术深水区二：BPF LSM + cgroup 把安全决策前置到内核路径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真正的亮点不是“发现风险”，而是在危险动作发生前给出确定性拒绝。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243584"/>
            <a:ext cx="2377440" cy="2212848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243584"/>
            <a:ext cx="45720" cy="2212848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389888"/>
            <a:ext cx="20848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文件/执行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700784"/>
            <a:ext cx="2066544" cy="1664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bprm_check_security、file_open、file_permission、inode_*：在执行、读写、创建、删除、重命名前判断策略。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346704" y="1243584"/>
            <a:ext cx="2377440" cy="2212848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1243584"/>
            <a:ext cx="45720" cy="2212848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1296" y="1389888"/>
            <a:ext cx="20848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网络外联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11296" y="1700784"/>
            <a:ext cx="2066544" cy="1664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connect4/connect6、sendmsg4/sendmsg6：按 cgroup、IP、IPv6、端口对 TCP/UDP 外联做前置约束。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035040" y="1243584"/>
            <a:ext cx="2377440" cy="2212848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35040" y="1243584"/>
            <a:ext cx="45720" cy="2212848"/>
          </a:xfrm>
          <a:prstGeom prst="rect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389888"/>
            <a:ext cx="208483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决策原则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1700784"/>
            <a:ext cx="2066544" cy="16642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内核态只做确定性 map lookup；ML/LLM 只输出建议，不直接进入内核阻断路径。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41248" y="3822192"/>
            <a:ext cx="7443216" cy="47548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3822192"/>
            <a:ext cx="1353312" cy="475488"/>
          </a:xfrm>
          <a:prstGeom prst="rect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005072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答辩亮点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395728" y="3941064"/>
            <a:ext cx="570585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评委能听懂的差异：UI 标红只是提醒，LSM/cgroup 返回 -EACCES 或拒绝 connect 才是 OS 层真实拦截。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512064" y="4626864"/>
            <a:ext cx="7671816" cy="0"/>
          </a:xfrm>
          <a:prstGeom prst="line">
            <a:avLst/>
          </a:prstGeom>
          <a:noFill/>
          <a:ln w="1016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4718304"/>
            <a:ext cx="7543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60" dirty="0">
                <a:solidFill>
                  <a:srgbClr val="82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代码证据：backend/ebpf/lsm_enforcer.c；backend/ebpf/cgroup_sandbox.c；scripts/os-enforcement-smoke.sh</a:t>
            </a:r>
            <a:endParaRPr lang="en-US" sz="6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07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技术深水区三：进程上下文继承解决 Agent 子进程“失踪”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真实风险常发生在 shell/python/node/git/npm/curl 子进程，必须把语义上下文随进程树传播。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444752"/>
            <a:ext cx="9875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5B55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1595628"/>
            <a:ext cx="877824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5B5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Run</a:t>
            </a:r>
            <a:endParaRPr lang="en-US" sz="710" dirty="0"/>
          </a:p>
        </p:txBody>
      </p:sp>
      <p:sp>
        <p:nvSpPr>
          <p:cNvPr id="13" name="Shape 11"/>
          <p:cNvSpPr/>
          <p:nvPr/>
        </p:nvSpPr>
        <p:spPr>
          <a:xfrm>
            <a:off x="1719072" y="1664208"/>
            <a:ext cx="182880" cy="0"/>
          </a:xfrm>
          <a:prstGeom prst="line">
            <a:avLst/>
          </a:prstGeom>
          <a:noFill/>
          <a:ln w="1778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75104" y="1444752"/>
            <a:ext cx="9875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167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595628"/>
            <a:ext cx="877824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2980944" y="1664208"/>
            <a:ext cx="201168" cy="0"/>
          </a:xfrm>
          <a:prstGeom prst="line">
            <a:avLst/>
          </a:prstGeom>
          <a:noFill/>
          <a:ln w="1778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255264" y="1444752"/>
            <a:ext cx="9875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66A1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1595628"/>
            <a:ext cx="877824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C66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/bin/sh</a:t>
            </a:r>
            <a:endParaRPr lang="en-US" sz="710" dirty="0"/>
          </a:p>
        </p:txBody>
      </p:sp>
      <p:sp>
        <p:nvSpPr>
          <p:cNvPr id="19" name="Shape 17"/>
          <p:cNvSpPr/>
          <p:nvPr/>
        </p:nvSpPr>
        <p:spPr>
          <a:xfrm>
            <a:off x="4261104" y="1664208"/>
            <a:ext cx="164592" cy="0"/>
          </a:xfrm>
          <a:prstGeom prst="line">
            <a:avLst/>
          </a:prstGeom>
          <a:noFill/>
          <a:ln w="1778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1444752"/>
            <a:ext cx="9875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66A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3712" y="1595628"/>
            <a:ext cx="877824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C66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python/node</a:t>
            </a:r>
            <a:endParaRPr lang="en-US" sz="710" dirty="0"/>
          </a:p>
        </p:txBody>
      </p:sp>
      <p:sp>
        <p:nvSpPr>
          <p:cNvPr id="22" name="Shape 20"/>
          <p:cNvSpPr/>
          <p:nvPr/>
        </p:nvSpPr>
        <p:spPr>
          <a:xfrm>
            <a:off x="5504688" y="1664208"/>
            <a:ext cx="347472" cy="0"/>
          </a:xfrm>
          <a:prstGeom prst="line">
            <a:avLst/>
          </a:prstGeom>
          <a:noFill/>
          <a:ln w="1778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25312" y="1444752"/>
            <a:ext cx="9875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C743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0176" y="1595628"/>
            <a:ext cx="877824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C7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file/net</a:t>
            </a:r>
            <a:endParaRPr lang="en-US" sz="710" dirty="0"/>
          </a:p>
        </p:txBody>
      </p:sp>
      <p:sp>
        <p:nvSpPr>
          <p:cNvPr id="25" name="Shape 23"/>
          <p:cNvSpPr/>
          <p:nvPr/>
        </p:nvSpPr>
        <p:spPr>
          <a:xfrm>
            <a:off x="6931152" y="1664208"/>
            <a:ext cx="146304" cy="0"/>
          </a:xfrm>
          <a:prstGeom prst="line">
            <a:avLst/>
          </a:prstGeom>
          <a:noFill/>
          <a:ln w="1778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150608" y="1444752"/>
            <a:ext cx="987552" cy="43891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2386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595628"/>
            <a:ext cx="877824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10" b="1" dirty="0">
                <a:solidFill>
                  <a:srgbClr val="238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749808" y="2487168"/>
            <a:ext cx="2395728" cy="1298448"/>
          </a:xfrm>
          <a:prstGeom prst="roundRect">
            <a:avLst>
              <a:gd name="adj" fmla="val 2113"/>
            </a:avLst>
          </a:prstGeom>
          <a:solidFill>
            <a:srgbClr val="EAF5FC"/>
          </a:solidFill>
          <a:ln w="10160">
            <a:solidFill>
              <a:srgbClr val="1677B8">
                <a:alpha val="6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2615184"/>
            <a:ext cx="402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71600" y="2633472"/>
            <a:ext cx="1645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继承字段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" y="2962656"/>
            <a:ext cx="2048256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agent_run_id、task_id、tool_call_id、trace_id 从父 PID 或 cgroup 继承，避免只看到孤立子进程。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3383280" y="2487168"/>
            <a:ext cx="2395728" cy="1298448"/>
          </a:xfrm>
          <a:prstGeom prst="roundRect">
            <a:avLst>
              <a:gd name="adj" fmla="val 2113"/>
            </a:avLst>
          </a:prstGeom>
          <a:solidFill>
            <a:srgbClr val="EAF7F1"/>
          </a:solidFill>
          <a:ln w="10160">
            <a:solidFill>
              <a:srgbClr val="23865F">
                <a:alpha val="65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2615184"/>
            <a:ext cx="402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238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05072" y="2633472"/>
            <a:ext cx="1645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事实字段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66160" y="2962656"/>
            <a:ext cx="2048256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PID/TGID/PPID、comm、cwd、cgroup_id 记录真实执行链，支撑后续图谱回放。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6016752" y="2487168"/>
            <a:ext cx="2395728" cy="1298448"/>
          </a:xfrm>
          <a:prstGeom prst="roundRect">
            <a:avLst>
              <a:gd name="adj" fmla="val 2113"/>
            </a:avLst>
          </a:prstGeom>
          <a:solidFill>
            <a:srgbClr val="F1F0FA"/>
          </a:solidFill>
          <a:ln w="10160">
            <a:solidFill>
              <a:srgbClr val="5B55A3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2615184"/>
            <a:ext cx="402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5B5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638544" y="2633472"/>
            <a:ext cx="1645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归因结果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99632" y="2962656"/>
            <a:ext cx="2048256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file/net/policy 事件归到具体 Agent run 和 tool call，而不是只归到 python 或 curl。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512064" y="4626864"/>
            <a:ext cx="7671816" cy="0"/>
          </a:xfrm>
          <a:prstGeom prst="line">
            <a:avLst/>
          </a:prstGeom>
          <a:noFill/>
          <a:ln w="10160">
            <a:solidFill>
              <a:srgbClr val="E7EE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718304"/>
            <a:ext cx="7543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60" dirty="0">
                <a:solidFill>
                  <a:srgbClr val="82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代码证据：backend/event_context.go；backend/execution_graph.go；backend/shell_sessions.go</a:t>
            </a:r>
            <a:endParaRPr lang="en-US" sz="6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08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技术深水区四：语义-事实一致性，不靠模型猜测做最终裁决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LLM/规则负责解释和建议，让内核事实负责证据，让确定性策略负责阻断。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225296"/>
            <a:ext cx="2240280" cy="217627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225296"/>
            <a:ext cx="45720" cy="217627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371600"/>
            <a:ext cx="19476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语义输入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682496"/>
            <a:ext cx="1929384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工具名、任务摘要、hook 元数据、wrapper 请求、只读/可写声明、预期访问范围。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999232" y="2304288"/>
            <a:ext cx="310896" cy="0"/>
          </a:xfrm>
          <a:prstGeom prst="line">
            <a:avLst/>
          </a:prstGeom>
          <a:noFill/>
          <a:ln w="1778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19856" y="1225296"/>
            <a:ext cx="2240280" cy="217627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9856" y="1225296"/>
            <a:ext cx="45720" cy="217627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1371600"/>
            <a:ext cx="19476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事实输入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84448" y="1682496"/>
            <a:ext cx="1929384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exec/open/connect/send、路径、端点、进程树、cgroup、LSM/cgroup 决策。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5760720" y="2304288"/>
            <a:ext cx="310896" cy="0"/>
          </a:xfrm>
          <a:prstGeom prst="line">
            <a:avLst/>
          </a:prstGeom>
          <a:noFill/>
          <a:ln w="17780">
            <a:solidFill>
              <a:srgbClr val="8293A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81344" y="1225296"/>
            <a:ext cx="2240280" cy="217627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1225296"/>
            <a:ext cx="45720" cy="2176272"/>
          </a:xfrm>
          <a:prstGeom prst="rect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1371600"/>
            <a:ext cx="1947672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输出结果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45936" y="1682496"/>
            <a:ext cx="1929384" cy="1627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SECRET_ACCESS、UNEXPECTED_NETWORK_EGRESS、WORKSPACE_ESCAPE、TOKEN_EXFIL_RISK。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77824" y="3730752"/>
            <a:ext cx="7388352" cy="53035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77824" y="3730752"/>
            <a:ext cx="1353312" cy="530352"/>
          </a:xfrm>
          <a:prstGeom prst="rect">
            <a:avLst/>
          </a:prstGeom>
          <a:solidFill>
            <a:srgbClr val="5B55A3"/>
          </a:solidFill>
          <a:ln w="12700">
            <a:solidFill>
              <a:srgbClr val="5B55A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3941064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32304" y="3849624"/>
            <a:ext cx="5650992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模型可以辅助解释风险，但不能直接下发不可解释的内核阻断；真正拦截由认证策略和确定性 map 决策完成。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12064" y="4626864"/>
            <a:ext cx="7671816" cy="0"/>
          </a:xfrm>
          <a:prstGeom prst="line">
            <a:avLst/>
          </a:prstGeom>
          <a:noFill/>
          <a:ln w="10160">
            <a:solidFill>
              <a:srgbClr val="E7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4718304"/>
            <a:ext cx="7543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60" dirty="0">
                <a:solidFill>
                  <a:srgbClr val="82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代码证据：backend/semantic_alerts.go；backend/event_envelope.go；backend/execution_graph.go；wrapper/main.go</a:t>
            </a:r>
            <a:endParaRPr lang="en-US" sz="6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09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工程深度：性能、权限和误报边界必须讲清楚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高权限安全工具不能只展示能力，还要说明开销、权限、误报和隐私边界如何控制。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25296"/>
            <a:ext cx="7717536" cy="53035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1225296"/>
            <a:ext cx="1353312" cy="5303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435608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性能边界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267712" y="1344168"/>
            <a:ext cx="59801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只采关键 syscall 与网络路径；tracked_comm/path、agent_pids、cgroup 过滤降低噪声；ringbuf 异步上报避免阻塞正常路径。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713232" y="1901952"/>
            <a:ext cx="7717536" cy="53035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1901952"/>
            <a:ext cx="1353312" cy="5303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2112264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权限边界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67712" y="2020824"/>
            <a:ext cx="59801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加载需要特权；配置 API 使用 token；shell 与策略变更有 runtime gate；TLS 明文捕获默认关闭。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713232" y="2578608"/>
            <a:ext cx="7717536" cy="53035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2578608"/>
            <a:ext cx="1353312" cy="530352"/>
          </a:xfrm>
          <a:prstGeom prst="rect">
            <a:avLst/>
          </a:prstGeom>
          <a:solidFill>
            <a:srgbClr val="C66A1D"/>
          </a:solidFill>
          <a:ln w="12700">
            <a:solidFill>
              <a:srgbClr val="C66A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2788920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误报边界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267712" y="2697480"/>
            <a:ext cx="59801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先观察后阻断；高风险路径默认告警，确认后进入 LSM/cgroup 阻断；ML/LLM 输出进入人工确认或策略模板。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13232" y="3255264"/>
            <a:ext cx="7717536" cy="530352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255264"/>
            <a:ext cx="1353312" cy="530352"/>
          </a:xfrm>
          <a:prstGeom prst="rect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465576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合规边界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267712" y="3374136"/>
            <a:ext cx="598017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用于本地/授权环境；事件流以摘要、路径、端点、长度、角色为主；演示数据必须脱敏。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950976" y="4151376"/>
            <a:ext cx="7242048" cy="292608"/>
          </a:xfrm>
          <a:prstGeom prst="roundRect">
            <a:avLst>
              <a:gd name="adj" fmla="val 6250"/>
            </a:avLst>
          </a:prstGeom>
          <a:solidFill>
            <a:srgbClr val="EDF5FB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4247388"/>
            <a:ext cx="6876288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7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这一页用于回应评委追问：能不能跑、会不会拖慢、权限是否过大、误报怎么处理。</a:t>
            </a:r>
            <a:endParaRPr lang="en-US" sz="77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验证方式：用三类实验证明深度闭环，而不是只放 UI 截图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现场演示围绕“采集到、归因准、拦得住”三件事设计。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25296"/>
            <a:ext cx="779068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1389888"/>
            <a:ext cx="658368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C7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 A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1719072" y="1335024"/>
            <a:ext cx="0" cy="237744"/>
          </a:xfrm>
          <a:prstGeom prst="line">
            <a:avLst/>
          </a:prstGeom>
          <a:noFill/>
          <a:ln w="25400">
            <a:solidFill>
              <a:srgbClr val="C743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1344168"/>
            <a:ext cx="109728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敏感路径读取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3236976" y="1353312"/>
            <a:ext cx="48463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声称只读项目文件，但子进程访问 .env / ssh key → SECRET_ACCESS + 任务归因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13232" y="1901952"/>
            <a:ext cx="7790688" cy="457200"/>
          </a:xfrm>
          <a:prstGeom prst="roundRect">
            <a:avLst>
              <a:gd name="adj" fmla="val 5000"/>
            </a:avLst>
          </a:prstGeom>
          <a:solidFill>
            <a:srgbClr val="F3F8FC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2066544"/>
            <a:ext cx="658368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C66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 B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1719072" y="2011680"/>
            <a:ext cx="0" cy="237744"/>
          </a:xfrm>
          <a:prstGeom prst="line">
            <a:avLst/>
          </a:prstGeom>
          <a:noFill/>
          <a:ln w="25400">
            <a:solidFill>
              <a:srgbClr val="C66A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56816" y="2020824"/>
            <a:ext cx="109728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异常外联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3236976" y="2029968"/>
            <a:ext cx="48463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curl/python 子进程连接未知 IP:port → UNEXPECTED_NETWORK_EGRESS，并关联到 tool_call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13232" y="2578608"/>
            <a:ext cx="7790688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2743200"/>
            <a:ext cx="658368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238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 C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1719072" y="2688336"/>
            <a:ext cx="0" cy="237744"/>
          </a:xfrm>
          <a:prstGeom prst="line">
            <a:avLst/>
          </a:prstGeom>
          <a:noFill/>
          <a:ln w="25400">
            <a:solidFill>
              <a:srgbClr val="2386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56816" y="2697480"/>
            <a:ext cx="109728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前置阻断</a:t>
            </a:r>
            <a:endParaRPr lang="en-US" sz="960" dirty="0"/>
          </a:p>
        </p:txBody>
      </p:sp>
      <p:sp>
        <p:nvSpPr>
          <p:cNvPr id="25" name="Text 23"/>
          <p:cNvSpPr/>
          <p:nvPr/>
        </p:nvSpPr>
        <p:spPr>
          <a:xfrm>
            <a:off x="3236976" y="2706624"/>
            <a:ext cx="48463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 LSM/cgroup 策略后返回 EACCES 或拒绝 connect/sendmsg，证据进入图谱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713232" y="3255264"/>
            <a:ext cx="7790688" cy="457200"/>
          </a:xfrm>
          <a:prstGeom prst="roundRect">
            <a:avLst>
              <a:gd name="adj" fmla="val 5000"/>
            </a:avLst>
          </a:prstGeom>
          <a:solidFill>
            <a:srgbClr val="F3F8FC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419856"/>
            <a:ext cx="658368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 D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1719072" y="3364992"/>
            <a:ext cx="0" cy="237744"/>
          </a:xfrm>
          <a:prstGeom prst="line">
            <a:avLst/>
          </a:prstGeom>
          <a:noFill/>
          <a:ln w="25400">
            <a:solidFill>
              <a:srgbClr val="1677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56816" y="3374136"/>
            <a:ext cx="1097280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6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图谱回放</a:t>
            </a:r>
            <a:endParaRPr lang="en-US" sz="960" dirty="0"/>
          </a:p>
        </p:txBody>
      </p:sp>
      <p:sp>
        <p:nvSpPr>
          <p:cNvPr id="30" name="Text 28"/>
          <p:cNvSpPr/>
          <p:nvPr/>
        </p:nvSpPr>
        <p:spPr>
          <a:xfrm>
            <a:off x="3236976" y="3383280"/>
            <a:ext cx="48463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5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Run → Tool Call → Process → File/Network → Policy，形成可提交证据链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14400" y="4169664"/>
            <a:ext cx="7315200" cy="347472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4169664"/>
            <a:ext cx="1353312" cy="347472"/>
          </a:xfrm>
          <a:prstGeom prst="rect">
            <a:avLst/>
          </a:prstGeom>
          <a:solidFill>
            <a:srgbClr val="5B55A3"/>
          </a:solidFill>
          <a:ln w="12700">
            <a:solidFill>
              <a:srgbClr val="5B55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0704" y="4288536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验收指标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468880" y="4288536"/>
            <a:ext cx="557784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检测率/阻断率、误报样例、平均事件延迟、CPU/内存开销、证据链完整率。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应用前景总览：同一条技术闭环对应三类可付费场景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应用前景不再泛泛讲市场，而是把技术深度映射到具体用户的刚需。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298448"/>
            <a:ext cx="2359152" cy="26700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554480"/>
            <a:ext cx="1975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高校实验室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225296" y="1956816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EAF5FC"/>
          </a:solidFill>
          <a:ln w="10160">
            <a:solidFill>
              <a:srgbClr val="1677B8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025396"/>
            <a:ext cx="11155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教学/科研/竞赛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96112" y="2487168"/>
            <a:ext cx="186537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eBPF、AI 安全、攻防演练做成可复现实验；形成课程、论文、软著和竞赛成果。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859536" y="3493008"/>
            <a:ext cx="1956816" cy="31089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9536" y="3493008"/>
            <a:ext cx="1353312" cy="310896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593592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14016" y="3611880"/>
            <a:ext cx="21945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成果转化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3328416" y="1298448"/>
            <a:ext cx="2359152" cy="26700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1296" y="1554480"/>
            <a:ext cx="1975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238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团队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895344" y="1956816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EAF7F1"/>
          </a:solidFill>
          <a:ln w="10160">
            <a:solidFill>
              <a:srgbClr val="23865F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0208" y="2025396"/>
            <a:ext cx="11155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2386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开发治理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566160" y="2487168"/>
            <a:ext cx="186537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治理本地/云端 Agent 对敏感文件、依赖脚本和外联的访问；给团队安全负责人可审计证据。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3529584" y="3493008"/>
            <a:ext cx="1956816" cy="31089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9584" y="3493008"/>
            <a:ext cx="1353312" cy="310896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75888" y="3593592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84064" y="3611880"/>
            <a:ext cx="21945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降低事故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5998464" y="1298448"/>
            <a:ext cx="2359152" cy="2670048"/>
          </a:xfrm>
          <a:prstGeom prst="roundRect">
            <a:avLst>
              <a:gd name="adj" fmla="val 1357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81344" y="1554480"/>
            <a:ext cx="1975104" cy="2194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250" b="1" dirty="0">
                <a:solidFill>
                  <a:srgbClr val="C66A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企业安全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565392" y="1956816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FFF3E6"/>
          </a:solidFill>
          <a:ln w="10160">
            <a:solidFill>
              <a:srgbClr val="C66A1D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0256" y="2025396"/>
            <a:ext cx="11155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C66A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合规与私有化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36208" y="2487168"/>
            <a:ext cx="1865376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在内网 Agent、MCP、代码助手落地时提供策略、审计报表、SIEM/OTLP 对接和留存能力。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6199632" y="3493008"/>
            <a:ext cx="1956816" cy="310896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3493008"/>
            <a:ext cx="1353312" cy="310896"/>
          </a:xfrm>
          <a:prstGeom prst="rect">
            <a:avLst/>
          </a:prstGeom>
          <a:solidFill>
            <a:srgbClr val="C66A1D"/>
          </a:solidFill>
          <a:ln w="12700">
            <a:solidFill>
              <a:srgbClr val="C66A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3593592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54112" y="3611880"/>
            <a:ext cx="219456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合规落地</a:t>
            </a:r>
            <a:endParaRPr lang="en-US" sz="760" dirty="0"/>
          </a:p>
        </p:txBody>
      </p:sp>
      <p:sp>
        <p:nvSpPr>
          <p:cNvPr id="38" name="Shape 36"/>
          <p:cNvSpPr/>
          <p:nvPr/>
        </p:nvSpPr>
        <p:spPr>
          <a:xfrm>
            <a:off x="512064" y="4626864"/>
            <a:ext cx="7671816" cy="0"/>
          </a:xfrm>
          <a:prstGeom prst="line">
            <a:avLst/>
          </a:prstGeom>
          <a:noFill/>
          <a:ln w="10160">
            <a:solidFill>
              <a:srgbClr val="E7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" y="4718304"/>
            <a:ext cx="7543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60" dirty="0">
                <a:solidFill>
                  <a:srgbClr val="82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市场证据：Stack Overflow AI adoption；GitGuardian secrets sprawl；IBM AI oversight gap。</a:t>
            </a:r>
            <a:endParaRPr lang="en-US" sz="6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12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应用前景一：高校实验室，从竞赛项目变成教学与科研平台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国创赛场景下，最容易先落地的是可复现实验、课程实践和安全竞赛训练。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13232" y="1243584"/>
            <a:ext cx="2395728" cy="1325880"/>
          </a:xfrm>
          <a:prstGeom prst="roundRect">
            <a:avLst>
              <a:gd name="adj" fmla="val 2069"/>
            </a:avLst>
          </a:prstGeom>
          <a:solidFill>
            <a:srgbClr val="EAF5FC"/>
          </a:solidFill>
          <a:ln w="10160">
            <a:solidFill>
              <a:srgbClr val="1677B8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35024" y="1389888"/>
            <a:ext cx="1645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课程实验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" y="1719072"/>
            <a:ext cx="204825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syscall 观测、LSM 阻断、Agent 风险 replay，可做成 AI 安全/系统安全课程实验。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383280" y="1243584"/>
            <a:ext cx="2395728" cy="1325880"/>
          </a:xfrm>
          <a:prstGeom prst="roundRect">
            <a:avLst>
              <a:gd name="adj" fmla="val 2069"/>
            </a:avLst>
          </a:prstGeom>
          <a:solidFill>
            <a:srgbClr val="F1F0FA"/>
          </a:solidFill>
          <a:ln w="10160">
            <a:solidFill>
              <a:srgbClr val="5B55A3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11296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5B5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05072" y="1389888"/>
            <a:ext cx="1645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科研题目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1719072"/>
            <a:ext cx="204825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Agentic AI runtime guardrail、语义-事实一致性、执行图谱和误报控制，可沉淀论文/专利方向。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053328" y="1243584"/>
            <a:ext cx="2395728" cy="1325880"/>
          </a:xfrm>
          <a:prstGeom prst="roundRect">
            <a:avLst>
              <a:gd name="adj" fmla="val 2069"/>
            </a:avLst>
          </a:prstGeom>
          <a:solidFill>
            <a:srgbClr val="EAF7F1"/>
          </a:solidFill>
          <a:ln w="10160">
            <a:solidFill>
              <a:srgbClr val="23865F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1371600"/>
            <a:ext cx="402336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238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1389888"/>
            <a:ext cx="164592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竞赛训练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36208" y="1719072"/>
            <a:ext cx="2048256" cy="7589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4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用良性/恶意任务 replay 构造靶场，训练学生识别 prompt 注入、MCP 密钥、异常外联。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786384" y="3090672"/>
            <a:ext cx="7571232" cy="841248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3310128"/>
            <a:ext cx="841248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落地路径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1993392" y="3310128"/>
            <a:ext cx="59893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先以开源 demo + 实验文档进入课程/实验室；用竞赛演示和测试报告证明可复现；再争取软著、导师课题、校企联合实践。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14400" y="4224528"/>
            <a:ext cx="7315200" cy="32918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4224528"/>
            <a:ext cx="1353312" cy="329184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60704" y="4334256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近期成果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468880" y="4343400"/>
            <a:ext cx="5577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演示视频、实验指导书、benchmark 数据集、软著/专利材料、导师推荐或试点证明。</a:t>
            </a:r>
            <a:endParaRPr lang="en-US" sz="76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13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应用前景二：AI coding 团队，解决“能用但不敢放开用”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团队不是缺 AI 工具，而是缺本地执行链的边界、审计和复盘能力。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207008"/>
            <a:ext cx="2834640" cy="2834640"/>
          </a:xfrm>
          <a:prstGeom prst="roundRect">
            <a:avLst>
              <a:gd name="adj" fmla="val 1129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408176"/>
            <a:ext cx="2432304" cy="128016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pic>
        <p:nvPicPr>
          <p:cNvPr id="13" name="Image 0" descr="/home/steve/文档/vibe coding/agent-ebpf-filiter/docs/competition/2026-guochuang/output/ppt_assets_light/gitguardian_state_20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770" y="1408176"/>
            <a:ext cx="2189259" cy="12801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77824" y="2907792"/>
            <a:ext cx="100584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20" b="1" dirty="0">
                <a:solidFill>
                  <a:srgbClr val="C743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付费理由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877824" y="3236976"/>
            <a:ext cx="232257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AI-assisted commits 与 MCP 配置泄露会直接影响代码资产、凭据和客户数据；团队负责人需要可追责证据。</a:t>
            </a:r>
            <a:endParaRPr lang="en-US" sz="710" dirty="0"/>
          </a:p>
        </p:txBody>
      </p:sp>
      <p:sp>
        <p:nvSpPr>
          <p:cNvPr id="16" name="Shape 13"/>
          <p:cNvSpPr/>
          <p:nvPr/>
        </p:nvSpPr>
        <p:spPr>
          <a:xfrm>
            <a:off x="3822192" y="1225296"/>
            <a:ext cx="4443984" cy="676656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822192" y="1225296"/>
            <a:ext cx="45720" cy="676656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86784" y="1371600"/>
            <a:ext cx="41513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策略模板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986784" y="1682496"/>
            <a:ext cx="4133088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只读审查、依赖安装、网络访问、敏感路径等团队级策略包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3822192" y="2103120"/>
            <a:ext cx="4443984" cy="676656"/>
          </a:xfrm>
          <a:prstGeom prst="roundRect">
            <a:avLst>
              <a:gd name="adj" fmla="val 4730"/>
            </a:avLst>
          </a:prstGeom>
          <a:solidFill>
            <a:srgbClr val="F3F8FC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822192" y="2103120"/>
            <a:ext cx="45720" cy="676656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86784" y="2249424"/>
            <a:ext cx="41513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审计报表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86784" y="2560320"/>
            <a:ext cx="4133088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run/task/tool_call 输出证据链，支持复盘与责任界定</a:t>
            </a:r>
            <a:endParaRPr lang="en-US" sz="780" dirty="0"/>
          </a:p>
        </p:txBody>
      </p:sp>
      <p:sp>
        <p:nvSpPr>
          <p:cNvPr id="24" name="Shape 21"/>
          <p:cNvSpPr/>
          <p:nvPr/>
        </p:nvSpPr>
        <p:spPr>
          <a:xfrm>
            <a:off x="3822192" y="2980944"/>
            <a:ext cx="4443984" cy="676656"/>
          </a:xfrm>
          <a:prstGeom prst="roundRect">
            <a:avLst>
              <a:gd name="adj" fmla="val 4730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822192" y="2980944"/>
            <a:ext cx="45720" cy="676656"/>
          </a:xfrm>
          <a:prstGeom prst="rect">
            <a:avLst/>
          </a:prstGeom>
          <a:solidFill>
            <a:srgbClr val="5B55A3"/>
          </a:solidFill>
          <a:ln w="12700">
            <a:solidFill>
              <a:srgbClr val="5B55A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986784" y="3127248"/>
            <a:ext cx="4151376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训练样本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986784" y="3438144"/>
            <a:ext cx="4133088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将真实告警转成 replay 数据，持续降低误报和漏报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822192" y="4096512"/>
            <a:ext cx="4443984" cy="365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822192" y="4096512"/>
            <a:ext cx="1353312" cy="365760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68496" y="4224528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商业入口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5376672" y="4215384"/>
            <a:ext cx="270662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Pro：团队策略、多人审计、报表导出、告警训练集。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512064" y="4626864"/>
            <a:ext cx="7671816" cy="0"/>
          </a:xfrm>
          <a:prstGeom prst="line">
            <a:avLst/>
          </a:prstGeom>
          <a:noFill/>
          <a:ln w="10160">
            <a:solidFill>
              <a:srgbClr val="E7EEF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30352" y="4718304"/>
            <a:ext cx="7543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60" dirty="0">
                <a:solidFill>
                  <a:srgbClr val="8293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市场证据：GitGuardian State of Secrets Sprawl 2026；Stack Overflow Developer Survey 2025。</a:t>
            </a:r>
            <a:endParaRPr lang="en-US" sz="66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14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应用前景三：企业私有化，把 Agent 安全接入现有安全体系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企业价值不只是 UI，而是把 Agent 执行证据送进合规、审计和安全运营流程。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85216" y="1261872"/>
            <a:ext cx="1847088" cy="2651760"/>
          </a:xfrm>
          <a:prstGeom prst="roundRect">
            <a:avLst>
              <a:gd name="adj" fmla="val 173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216" y="1261872"/>
            <a:ext cx="45720" cy="2651760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408176"/>
            <a:ext cx="15544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部署形态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1719072"/>
            <a:ext cx="1536192" cy="2103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单机开发机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团队网关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 / 多节点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离线私有化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670048" y="1261872"/>
            <a:ext cx="1847088" cy="2651760"/>
          </a:xfrm>
          <a:prstGeom prst="roundRect">
            <a:avLst>
              <a:gd name="adj" fmla="val 173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0048" y="1261872"/>
            <a:ext cx="45720" cy="2651760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408176"/>
            <a:ext cx="15544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集成对象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1719072"/>
            <a:ext cx="1536192" cy="2103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SIEM / OTLP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审计留存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SSO / token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策略审批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4754880" y="1261872"/>
            <a:ext cx="1847088" cy="2651760"/>
          </a:xfrm>
          <a:prstGeom prst="roundRect">
            <a:avLst>
              <a:gd name="adj" fmla="val 173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1261872"/>
            <a:ext cx="45720" cy="2651760"/>
          </a:xfrm>
          <a:prstGeom prst="rect">
            <a:avLst/>
          </a:prstGeom>
          <a:solidFill>
            <a:srgbClr val="C66A1D"/>
          </a:solidFill>
          <a:ln w="12700">
            <a:solidFill>
              <a:srgbClr val="C66A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408176"/>
            <a:ext cx="15544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交付价值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1719072"/>
            <a:ext cx="1536192" cy="2103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外联约束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敏感路径保护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事故复盘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合规报告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839712" y="1261872"/>
            <a:ext cx="1847088" cy="2651760"/>
          </a:xfrm>
          <a:prstGeom prst="roundRect">
            <a:avLst>
              <a:gd name="adj" fmla="val 1733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39712" y="1261872"/>
            <a:ext cx="45720" cy="2651760"/>
          </a:xfrm>
          <a:prstGeom prst="rect">
            <a:avLst/>
          </a:prstGeom>
          <a:solidFill>
            <a:srgbClr val="5B55A3"/>
          </a:solidFill>
          <a:ln w="12700">
            <a:solidFill>
              <a:srgbClr val="5B55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04304" y="1408176"/>
            <a:ext cx="155448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服务收入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04304" y="1719072"/>
            <a:ext cx="1536192" cy="2103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策略调优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培训与靶场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859536" y="4151376"/>
            <a:ext cx="7406640" cy="329184"/>
          </a:xfrm>
          <a:prstGeom prst="roundRect">
            <a:avLst>
              <a:gd name="adj" fmla="val 5556"/>
            </a:avLst>
          </a:prstGeom>
          <a:solidFill>
            <a:srgbClr val="EDF5FB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" y="4256532"/>
            <a:ext cx="7040880" cy="73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企业侧最容易成交的不是“炫酷监控”，而是私有化部署、审计留存、异常外联管控和事故可复盘。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15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商业模式：围绕深度能力收费，而不是围绕页面数量收费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开源用于建立信任，付费集中在团队治理、私有化交付和教育内容。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8010144" cy="3072384"/>
          </a:xfrm>
          <a:prstGeom prst="roundRect">
            <a:avLst>
              <a:gd name="adj" fmla="val 1042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481328"/>
            <a:ext cx="114300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993392" y="1481328"/>
            <a:ext cx="118872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18688" y="1481328"/>
            <a:ext cx="28346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交付内容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91072" y="1481328"/>
            <a:ext cx="150876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付费动机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86384" y="1737360"/>
            <a:ext cx="7552944" cy="0"/>
          </a:xfrm>
          <a:prstGeom prst="line">
            <a:avLst/>
          </a:prstGeom>
          <a:noFill/>
          <a:ln w="10160">
            <a:solidFill>
              <a:srgbClr val="D9E6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1920240"/>
            <a:ext cx="1078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993392" y="1920240"/>
            <a:ext cx="11155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免费/开源</a:t>
            </a:r>
            <a:endParaRPr lang="en-US" sz="710" dirty="0"/>
          </a:p>
        </p:txBody>
      </p:sp>
      <p:sp>
        <p:nvSpPr>
          <p:cNvPr id="19" name="Text 17"/>
          <p:cNvSpPr/>
          <p:nvPr/>
        </p:nvSpPr>
        <p:spPr>
          <a:xfrm>
            <a:off x="3218688" y="1920240"/>
            <a:ext cx="278892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单机观测、基础告警、教学实验</a:t>
            </a:r>
            <a:endParaRPr lang="en-US" sz="710" dirty="0"/>
          </a:p>
        </p:txBody>
      </p:sp>
      <p:sp>
        <p:nvSpPr>
          <p:cNvPr id="20" name="Text 18"/>
          <p:cNvSpPr/>
          <p:nvPr/>
        </p:nvSpPr>
        <p:spPr>
          <a:xfrm>
            <a:off x="6291072" y="1920240"/>
            <a:ext cx="171907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开发者获客与课程传播</a:t>
            </a:r>
            <a:endParaRPr lang="en-US" sz="710" dirty="0"/>
          </a:p>
        </p:txBody>
      </p:sp>
      <p:sp>
        <p:nvSpPr>
          <p:cNvPr id="21" name="Shape 19"/>
          <p:cNvSpPr/>
          <p:nvPr/>
        </p:nvSpPr>
        <p:spPr>
          <a:xfrm>
            <a:off x="768096" y="2258568"/>
            <a:ext cx="7589520" cy="292608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2304288"/>
            <a:ext cx="1078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238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Pro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1993392" y="2304288"/>
            <a:ext cx="11155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3.98万/年起</a:t>
            </a:r>
            <a:endParaRPr lang="en-US" sz="710" dirty="0"/>
          </a:p>
        </p:txBody>
      </p:sp>
      <p:sp>
        <p:nvSpPr>
          <p:cNvPr id="24" name="Text 22"/>
          <p:cNvSpPr/>
          <p:nvPr/>
        </p:nvSpPr>
        <p:spPr>
          <a:xfrm>
            <a:off x="3218688" y="2304288"/>
            <a:ext cx="278892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团队策略、报表、训练样本、多用户</a:t>
            </a:r>
            <a:endParaRPr lang="en-US" sz="710" dirty="0"/>
          </a:p>
        </p:txBody>
      </p:sp>
      <p:sp>
        <p:nvSpPr>
          <p:cNvPr id="25" name="Text 23"/>
          <p:cNvSpPr/>
          <p:nvPr/>
        </p:nvSpPr>
        <p:spPr>
          <a:xfrm>
            <a:off x="6291072" y="2304288"/>
            <a:ext cx="171907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团队治理</a:t>
            </a:r>
            <a:endParaRPr lang="en-US" sz="710" dirty="0"/>
          </a:p>
        </p:txBody>
      </p:sp>
      <p:sp>
        <p:nvSpPr>
          <p:cNvPr id="26" name="Text 24"/>
          <p:cNvSpPr/>
          <p:nvPr/>
        </p:nvSpPr>
        <p:spPr>
          <a:xfrm>
            <a:off x="859536" y="2688336"/>
            <a:ext cx="1078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C66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1993392" y="2688336"/>
            <a:ext cx="11155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19.8万/年起</a:t>
            </a:r>
            <a:endParaRPr lang="en-US" sz="710" dirty="0"/>
          </a:p>
        </p:txBody>
      </p:sp>
      <p:sp>
        <p:nvSpPr>
          <p:cNvPr id="28" name="Text 26"/>
          <p:cNvSpPr/>
          <p:nvPr/>
        </p:nvSpPr>
        <p:spPr>
          <a:xfrm>
            <a:off x="3218688" y="2688336"/>
            <a:ext cx="278892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私有化、多节点、SSO、SIEM、审计留存</a:t>
            </a:r>
            <a:endParaRPr lang="en-US" sz="710" dirty="0"/>
          </a:p>
        </p:txBody>
      </p:sp>
      <p:sp>
        <p:nvSpPr>
          <p:cNvPr id="29" name="Text 27"/>
          <p:cNvSpPr/>
          <p:nvPr/>
        </p:nvSpPr>
        <p:spPr>
          <a:xfrm>
            <a:off x="6291072" y="2688336"/>
            <a:ext cx="171907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企业合规与安全运营</a:t>
            </a:r>
            <a:endParaRPr lang="en-US" sz="710" dirty="0"/>
          </a:p>
        </p:txBody>
      </p:sp>
      <p:sp>
        <p:nvSpPr>
          <p:cNvPr id="30" name="Shape 28"/>
          <p:cNvSpPr/>
          <p:nvPr/>
        </p:nvSpPr>
        <p:spPr>
          <a:xfrm>
            <a:off x="768096" y="3026664"/>
            <a:ext cx="7589520" cy="292608"/>
          </a:xfrm>
          <a:prstGeom prst="rect">
            <a:avLst/>
          </a:prstGeom>
          <a:solidFill>
            <a:srgbClr val="F3F8FC"/>
          </a:solidFill>
          <a:ln w="12700">
            <a:solidFill>
              <a:srgbClr val="F3F8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3072384"/>
            <a:ext cx="1078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C7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Kit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1993392" y="3072384"/>
            <a:ext cx="11155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3万/套起</a:t>
            </a:r>
            <a:endParaRPr lang="en-US" sz="710" dirty="0"/>
          </a:p>
        </p:txBody>
      </p:sp>
      <p:sp>
        <p:nvSpPr>
          <p:cNvPr id="33" name="Text 31"/>
          <p:cNvSpPr/>
          <p:nvPr/>
        </p:nvSpPr>
        <p:spPr>
          <a:xfrm>
            <a:off x="3218688" y="3072384"/>
            <a:ext cx="278892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课程实验、靶场、竞赛训练营</a:t>
            </a:r>
            <a:endParaRPr lang="en-US" sz="710" dirty="0"/>
          </a:p>
        </p:txBody>
      </p:sp>
      <p:sp>
        <p:nvSpPr>
          <p:cNvPr id="34" name="Text 32"/>
          <p:cNvSpPr/>
          <p:nvPr/>
        </p:nvSpPr>
        <p:spPr>
          <a:xfrm>
            <a:off x="6291072" y="3072384"/>
            <a:ext cx="171907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高校实验室与培训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859536" y="3456432"/>
            <a:ext cx="107899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5B5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720" dirty="0"/>
          </a:p>
        </p:txBody>
      </p:sp>
      <p:sp>
        <p:nvSpPr>
          <p:cNvPr id="36" name="Text 34"/>
          <p:cNvSpPr/>
          <p:nvPr/>
        </p:nvSpPr>
        <p:spPr>
          <a:xfrm>
            <a:off x="1993392" y="3456432"/>
            <a:ext cx="1115568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5-20万/项目</a:t>
            </a:r>
            <a:endParaRPr lang="en-US" sz="710" dirty="0"/>
          </a:p>
        </p:txBody>
      </p:sp>
      <p:sp>
        <p:nvSpPr>
          <p:cNvPr id="37" name="Text 35"/>
          <p:cNvSpPr/>
          <p:nvPr/>
        </p:nvSpPr>
        <p:spPr>
          <a:xfrm>
            <a:off x="3218688" y="3456432"/>
            <a:ext cx="278892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PoC、红队 replay、策略调优</a:t>
            </a:r>
            <a:endParaRPr lang="en-US" sz="710" dirty="0"/>
          </a:p>
        </p:txBody>
      </p:sp>
      <p:sp>
        <p:nvSpPr>
          <p:cNvPr id="38" name="Text 36"/>
          <p:cNvSpPr/>
          <p:nvPr/>
        </p:nvSpPr>
        <p:spPr>
          <a:xfrm>
            <a:off x="6291072" y="3456432"/>
            <a:ext cx="171907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1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落地服务收入</a:t>
            </a:r>
            <a:endParaRPr lang="en-US" sz="710" dirty="0"/>
          </a:p>
        </p:txBody>
      </p:sp>
      <p:sp>
        <p:nvSpPr>
          <p:cNvPr id="39" name="Text 37"/>
          <p:cNvSpPr/>
          <p:nvPr/>
        </p:nvSpPr>
        <p:spPr>
          <a:xfrm>
            <a:off x="932688" y="4462272"/>
            <a:ext cx="727862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2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注：价格为校赛版测算，提交前建议补充真实访谈、试点意向或导师/企业推荐证明。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16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实施路线：先把深度闭环跑稳，再扩展场景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路线图从“证明内核闭环可靠”开始，而不是先堆平台功能。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60120" y="2139696"/>
            <a:ext cx="7086600" cy="0"/>
          </a:xfrm>
          <a:prstGeom prst="line">
            <a:avLst/>
          </a:prstGeom>
          <a:noFill/>
          <a:ln w="2794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1965960"/>
            <a:ext cx="329184" cy="329184"/>
          </a:xfrm>
          <a:prstGeom prst="ellipse">
            <a:avLst/>
          </a:prstGeom>
          <a:solidFill>
            <a:srgbClr val="1677B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2578608"/>
            <a:ext cx="1353312" cy="1225296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779776"/>
            <a:ext cx="115214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2026.05-06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04088" y="3054096"/>
            <a:ext cx="115214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深度演示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04088" y="3346704"/>
            <a:ext cx="11521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敏感路径、异常外联、LSM/cgroup 阻断、证据链回放</a:t>
            </a:r>
            <a:endParaRPr lang="en-US" sz="630" dirty="0"/>
          </a:p>
        </p:txBody>
      </p:sp>
      <p:sp>
        <p:nvSpPr>
          <p:cNvPr id="17" name="Shape 15"/>
          <p:cNvSpPr/>
          <p:nvPr/>
        </p:nvSpPr>
        <p:spPr>
          <a:xfrm>
            <a:off x="2852928" y="1965960"/>
            <a:ext cx="329184" cy="329184"/>
          </a:xfrm>
          <a:prstGeom prst="ellipse">
            <a:avLst/>
          </a:prstGeom>
          <a:solidFill>
            <a:srgbClr val="23865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2578608"/>
            <a:ext cx="1353312" cy="1225296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86584" y="2779776"/>
            <a:ext cx="115214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2386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2026.06-08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386584" y="3054096"/>
            <a:ext cx="115214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量化验证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386584" y="3346704"/>
            <a:ext cx="11521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检测率、阻断率、误报、事件延迟、CPU/内存开销</a:t>
            </a:r>
            <a:endParaRPr lang="en-US" sz="630" dirty="0"/>
          </a:p>
        </p:txBody>
      </p:sp>
      <p:sp>
        <p:nvSpPr>
          <p:cNvPr id="22" name="Shape 20"/>
          <p:cNvSpPr/>
          <p:nvPr/>
        </p:nvSpPr>
        <p:spPr>
          <a:xfrm>
            <a:off x="4535424" y="1965960"/>
            <a:ext cx="329184" cy="329184"/>
          </a:xfrm>
          <a:prstGeom prst="ellipse">
            <a:avLst/>
          </a:prstGeom>
          <a:solidFill>
            <a:srgbClr val="C66A1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68496" y="2578608"/>
            <a:ext cx="1353312" cy="1225296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2779776"/>
            <a:ext cx="115214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C66A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2026.08-10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4069080" y="3054096"/>
            <a:ext cx="115214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高校试点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069080" y="3346704"/>
            <a:ext cx="11521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课程实验、靶场、实验室试用、导师反馈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6217920" y="1965960"/>
            <a:ext cx="329184" cy="329184"/>
          </a:xfrm>
          <a:prstGeom prst="ellipse">
            <a:avLst/>
          </a:prstGeom>
          <a:solidFill>
            <a:srgbClr val="5B55A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50992" y="2578608"/>
            <a:ext cx="1353312" cy="1225296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51576" y="2779776"/>
            <a:ext cx="115214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5B55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2026.10-2027.03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751576" y="3054096"/>
            <a:ext cx="115214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成果固化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5751576" y="3346704"/>
            <a:ext cx="11521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软著、专利、论文、合作证明、开源社区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7900416" y="1965960"/>
            <a:ext cx="329184" cy="329184"/>
          </a:xfrm>
          <a:prstGeom prst="ellipse">
            <a:avLst/>
          </a:prstGeom>
          <a:solidFill>
            <a:srgbClr val="C743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33488" y="2578608"/>
            <a:ext cx="1353312" cy="1225296"/>
          </a:xfrm>
          <a:prstGeom prst="roundRect">
            <a:avLst>
              <a:gd name="adj" fmla="val 2239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34072" y="2779776"/>
            <a:ext cx="115214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50" b="1" dirty="0">
                <a:solidFill>
                  <a:srgbClr val="C743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434072" y="3054096"/>
            <a:ext cx="1152144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92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产品化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7434072" y="3346704"/>
            <a:ext cx="1152144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3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Pro、企业私有化、教育套件、咨询服务</a:t>
            </a:r>
            <a:endParaRPr lang="en-US" sz="630" dirty="0"/>
          </a:p>
        </p:txBody>
      </p:sp>
      <p:sp>
        <p:nvSpPr>
          <p:cNvPr id="37" name="Shape 35"/>
          <p:cNvSpPr/>
          <p:nvPr/>
        </p:nvSpPr>
        <p:spPr>
          <a:xfrm>
            <a:off x="841248" y="4261104"/>
            <a:ext cx="7452360" cy="329184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41248" y="4261104"/>
            <a:ext cx="1353312" cy="329184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7552" y="4370832"/>
            <a:ext cx="1060704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阶段判断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395728" y="4379976"/>
            <a:ext cx="5715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如果内核闭环和低误报验证不充分，不急于扩大 UI 功能；先把最难的技术证明做扎实。</a:t>
            </a:r>
            <a:endParaRPr lang="en-US" sz="7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17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团队分工与合规边界：围绕深度闭环组织，而不是按页面分工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提交前将【待填】替换为真实姓名、学号、年级、学院与贡献证据。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8368" y="1261872"/>
            <a:ext cx="2487168" cy="246888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1261872"/>
            <a:ext cx="45720" cy="2468880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408176"/>
            <a:ext cx="21945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技术主线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1719072"/>
            <a:ext cx="2176272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eBPF/LSM/cgroup：【待填】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上下文继承/执行图谱：【待填】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语义风险检测：【待填】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性能与误报验证：【待填】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328416" y="1261872"/>
            <a:ext cx="2487168" cy="246888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28416" y="1261872"/>
            <a:ext cx="45720" cy="2468880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1408176"/>
            <a:ext cx="21945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应用主线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93008" y="1719072"/>
            <a:ext cx="2176272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高校实验与课程：【待填】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团队/企业访谈：【待填】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商业模式与报价：【待填】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演示视频与材料：【待填】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998464" y="1261872"/>
            <a:ext cx="2487168" cy="2468880"/>
          </a:xfrm>
          <a:prstGeom prst="roundRect">
            <a:avLst>
              <a:gd name="adj" fmla="val 129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98464" y="1261872"/>
            <a:ext cx="45720" cy="2468880"/>
          </a:xfrm>
          <a:prstGeom prst="rect">
            <a:avLst/>
          </a:prstGeom>
          <a:solidFill>
            <a:srgbClr val="C74343"/>
          </a:solidFill>
          <a:ln w="12700">
            <a:solidFill>
              <a:srgbClr val="C743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408176"/>
            <a:ext cx="219456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合规边界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63056" y="1719072"/>
            <a:ext cx="2176272" cy="19202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只在本地/授权环境使用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先观察后阻断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不采集未授权数据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TLS 明文捕获默认关闭</a:t>
            </a:r>
            <a:endParaRPr lang="en-US" sz="780" dirty="0"/>
          </a:p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演示数据必须脱敏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877824" y="4297680"/>
            <a:ext cx="740664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6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团队证明建议：commit 记录、模块负责人截图、导师指导记录、测试报告、软著/论文/专利分工。</a:t>
            </a:r>
            <a:endParaRPr lang="en-US" sz="7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DFF"/>
          </a:solidFill>
          <a:ln w="12700">
            <a:solidFill>
              <a:srgbClr val="FBFD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5240" y="0"/>
            <a:ext cx="1508760" cy="73152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8200" y="4700016"/>
            <a:ext cx="438912" cy="246888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0" y="4759452"/>
            <a:ext cx="438912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5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30352" y="329184"/>
            <a:ext cx="114300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" b="1" dirty="0">
                <a:solidFill>
                  <a:srgbClr val="167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18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530352" y="594360"/>
            <a:ext cx="0" cy="347472"/>
          </a:xfrm>
          <a:prstGeom prst="line">
            <a:avLst/>
          </a:prstGeom>
          <a:noFill/>
          <a:ln w="27940">
            <a:solidFill>
              <a:srgbClr val="167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530352"/>
            <a:ext cx="777240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5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总结：技术深度解决信任问题，应用前景决定项目价值</a:t>
            </a:r>
            <a:endParaRPr lang="en-US" sz="2050" dirty="0"/>
          </a:p>
        </p:txBody>
      </p:sp>
      <p:sp>
        <p:nvSpPr>
          <p:cNvPr id="10" name="Text 8"/>
          <p:cNvSpPr/>
          <p:nvPr/>
        </p:nvSpPr>
        <p:spPr>
          <a:xfrm>
            <a:off x="685800" y="960120"/>
            <a:ext cx="75895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00" dirty="0">
                <a:solidFill>
                  <a:srgbClr val="6B7C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用公开数据说明刚需，用内核闭环证明技术深度，用明确场景说明落地前景。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188720"/>
            <a:ext cx="2395728" cy="109728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1188720"/>
            <a:ext cx="45720" cy="1097280"/>
          </a:xfrm>
          <a:prstGeom prst="rect">
            <a:avLst/>
          </a:prstGeom>
          <a:solidFill>
            <a:srgbClr val="1677B8"/>
          </a:solidFill>
          <a:ln w="12700">
            <a:solidFill>
              <a:srgbClr val="167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335024"/>
            <a:ext cx="21031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1：可信事实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1645920"/>
            <a:ext cx="20848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eBPF 采集关键 OS 行为，EventEnvelope 统一语义和事实字段，形成不可只靠 prompt 替代的证据底座。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364992" y="1188720"/>
            <a:ext cx="2395728" cy="109728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64992" y="1188720"/>
            <a:ext cx="45720" cy="1097280"/>
          </a:xfrm>
          <a:prstGeom prst="rect">
            <a:avLst/>
          </a:prstGeom>
          <a:solidFill>
            <a:srgbClr val="23865F"/>
          </a:solidFill>
          <a:ln w="12700">
            <a:solidFill>
              <a:srgbClr val="2386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9584" y="1335024"/>
            <a:ext cx="21031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 2：前置控制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9584" y="1645920"/>
            <a:ext cx="20848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BPF LSM/cgroup 把策略放到危险动作发生前，证明项目不是事后看板，而是 runtime guardrail。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6053328" y="1188720"/>
            <a:ext cx="2395728" cy="109728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53328" y="1188720"/>
            <a:ext cx="45720" cy="1097280"/>
          </a:xfrm>
          <a:prstGeom prst="rect">
            <a:avLst/>
          </a:prstGeom>
          <a:solidFill>
            <a:srgbClr val="C66A1D"/>
          </a:solidFill>
          <a:ln w="12700">
            <a:solidFill>
              <a:srgbClr val="C66A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335024"/>
            <a:ext cx="2103120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0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前景：三类场景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645920"/>
            <a:ext cx="2084832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高校实验室、AI coding 团队、企业私有化分别对应成果转化、团队治理和合规运营。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04672" y="2688336"/>
            <a:ext cx="7534656" cy="438912"/>
          </a:xfrm>
          <a:prstGeom prst="roundRect">
            <a:avLst>
              <a:gd name="adj" fmla="val 4167"/>
            </a:avLst>
          </a:prstGeom>
          <a:solidFill>
            <a:srgbClr val="EDF5FB"/>
          </a:solidFill>
          <a:ln w="10160">
            <a:solidFill>
              <a:srgbClr val="E7EE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2834640"/>
            <a:ext cx="7132320" cy="91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880" b="1" dirty="0">
                <a:solidFill>
                  <a:srgbClr val="102A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需要支持：导师/学院资源、试点用户、软著/专利指导。目标：校赛晋级、省赛打磨、形成可转化产品。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804672" y="3429000"/>
            <a:ext cx="7534656" cy="6400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D9E6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3584448"/>
            <a:ext cx="716889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680" dirty="0">
                <a:solidFill>
                  <a:srgbClr val="243B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主要来源：Stack Overflow Developer Survey 2025；GitGuardian State of Secrets Sprawl 2026；IBM Cost of a Data Breach Report 2025；OWASP Top 10 for LLM Applications / Agentic AI Threats；CSA M365 Copilot research note；NVD CVE-2025-32711。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834640" y="4352544"/>
            <a:ext cx="347472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420" b="1" dirty="0">
                <a:solidFill>
                  <a:srgbClr val="167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谢谢各位老师，请批评指正</a:t>
            </a:r>
            <a:endParaRPr lang="en-US" sz="14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Agent eBPF Filter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eBPF Filter 项目答辩路演 PPT 技术深度与应用前景版</dc:title>
  <dc:subject>国创赛 2026 高教主赛道创意组路演</dc:subject>
  <dc:creator>Agent eBPF Filter</dc:creator>
  <cp:lastModifiedBy>Agent eBPF Filter</cp:lastModifiedBy>
  <cp:revision>1</cp:revision>
  <dcterms:created xsi:type="dcterms:W3CDTF">2026-05-26T07:21:43Z</dcterms:created>
  <dcterms:modified xsi:type="dcterms:W3CDTF">2026-05-26T07:21:43Z</dcterms:modified>
</cp:coreProperties>
</file>