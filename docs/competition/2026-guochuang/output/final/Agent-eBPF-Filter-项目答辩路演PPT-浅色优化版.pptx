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72200" y="73152"/>
            <a:ext cx="2971800" cy="5070348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5216" y="512064"/>
            <a:ext cx="35661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国创赛2026 · 高教主赛道 · 创意组</a:t>
            </a:r>
            <a:endParaRPr lang="en-US" sz="960" dirty="0"/>
          </a:p>
        </p:txBody>
      </p:sp>
      <p:sp>
        <p:nvSpPr>
          <p:cNvPr id="7" name="Shape 5"/>
          <p:cNvSpPr/>
          <p:nvPr/>
        </p:nvSpPr>
        <p:spPr>
          <a:xfrm>
            <a:off x="585216" y="950976"/>
            <a:ext cx="3163824" cy="0"/>
          </a:xfrm>
          <a:prstGeom prst="line">
            <a:avLst/>
          </a:prstGeom>
          <a:noFill/>
          <a:ln w="26670">
            <a:solidFill>
              <a:srgbClr val="1677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216152"/>
            <a:ext cx="534924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400" b="1" dirty="0">
                <a:solidFill>
                  <a:srgbClr val="102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eBPF Filter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85216" y="1847088"/>
            <a:ext cx="5166360" cy="8046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3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 AI Agent 的</a:t>
            </a:r>
            <a:endParaRPr lang="en-US" sz="2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230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内核级运行时安全与可观测平台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603504" y="2834640"/>
            <a:ext cx="5212080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Agent 的“承诺”和操作系统里的“事实”对齐起来</a:t>
            </a:r>
            <a:endParaRPr lang="en-US" sz="1140" dirty="0"/>
          </a:p>
        </p:txBody>
      </p:sp>
      <p:sp>
        <p:nvSpPr>
          <p:cNvPr id="11" name="Shape 9"/>
          <p:cNvSpPr/>
          <p:nvPr/>
        </p:nvSpPr>
        <p:spPr>
          <a:xfrm>
            <a:off x="603504" y="3364992"/>
            <a:ext cx="1234440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433572"/>
            <a:ext cx="11247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内核事实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65960" y="3364992"/>
            <a:ext cx="1417320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20824" y="3433572"/>
            <a:ext cx="13075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 同步阻断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520440" y="3364992"/>
            <a:ext cx="1691640" cy="256032"/>
          </a:xfrm>
          <a:prstGeom prst="roundRect">
            <a:avLst>
              <a:gd name="adj" fmla="val 28571"/>
            </a:avLst>
          </a:prstGeom>
          <a:solidFill>
            <a:srgbClr val="F1F0FA"/>
          </a:solidFill>
          <a:ln w="10160">
            <a:solidFill>
              <a:srgbClr val="5B55A3">
                <a:alpha val="4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75304" y="3433572"/>
            <a:ext cx="1581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5B55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Execution Graph 执行归因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03504" y="4160520"/>
            <a:ext cx="3703320" cy="4754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负责人/学院/联系方式：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推荐学院：【待填】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负责人：【待填】</a:t>
            </a:r>
            <a:endParaRPr lang="en-US" sz="7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79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手机号/QQ：【待填】</a:t>
            </a:r>
            <a:endParaRPr lang="en-US" sz="790" dirty="0"/>
          </a:p>
        </p:txBody>
      </p:sp>
      <p:sp>
        <p:nvSpPr>
          <p:cNvPr id="18" name="Text 16"/>
          <p:cNvSpPr/>
          <p:nvPr/>
        </p:nvSpPr>
        <p:spPr>
          <a:xfrm>
            <a:off x="4251960" y="4599432"/>
            <a:ext cx="155448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75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项目答辩 / 路演版 · 2026-05-26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565392" y="640080"/>
            <a:ext cx="2121408" cy="102412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48272" y="850392"/>
            <a:ext cx="173736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一句话定位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711696" y="1161288"/>
            <a:ext cx="1810512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运行时证据链与策略边界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565392" y="1965960"/>
            <a:ext cx="212140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84264" y="2057400"/>
            <a:ext cx="188366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6684264" y="2350008"/>
            <a:ext cx="188366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开发工具采用意愿</a:t>
            </a:r>
            <a:endParaRPr lang="en-US" sz="690" dirty="0"/>
          </a:p>
        </p:txBody>
      </p:sp>
      <p:sp>
        <p:nvSpPr>
          <p:cNvPr id="25" name="Shape 23"/>
          <p:cNvSpPr/>
          <p:nvPr/>
        </p:nvSpPr>
        <p:spPr>
          <a:xfrm>
            <a:off x="6565392" y="2816352"/>
            <a:ext cx="212140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84264" y="2907792"/>
            <a:ext cx="188366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28.65M</a:t>
            </a:r>
            <a:endParaRPr lang="en-US" sz="1750" dirty="0"/>
          </a:p>
        </p:txBody>
      </p:sp>
      <p:sp>
        <p:nvSpPr>
          <p:cNvPr id="27" name="Text 25"/>
          <p:cNvSpPr/>
          <p:nvPr/>
        </p:nvSpPr>
        <p:spPr>
          <a:xfrm>
            <a:off x="6684264" y="3200400"/>
            <a:ext cx="188366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public GitHub 新增硬编码密钥</a:t>
            </a:r>
            <a:endParaRPr lang="en-US" sz="690" dirty="0"/>
          </a:p>
        </p:txBody>
      </p:sp>
      <p:sp>
        <p:nvSpPr>
          <p:cNvPr id="28" name="Shape 26"/>
          <p:cNvSpPr/>
          <p:nvPr/>
        </p:nvSpPr>
        <p:spPr>
          <a:xfrm>
            <a:off x="6565392" y="3666744"/>
            <a:ext cx="212140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84264" y="3758184"/>
            <a:ext cx="188366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</a:t>
            </a:r>
            <a:endParaRPr lang="en-US" sz="1750" dirty="0"/>
          </a:p>
        </p:txBody>
      </p:sp>
      <p:sp>
        <p:nvSpPr>
          <p:cNvPr id="30" name="Text 28"/>
          <p:cNvSpPr/>
          <p:nvPr/>
        </p:nvSpPr>
        <p:spPr>
          <a:xfrm>
            <a:off x="6684264" y="4050792"/>
            <a:ext cx="188366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内核级事实采集与阻断</a:t>
            </a:r>
            <a:endParaRPr lang="en-US" sz="6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00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路演结构：从真实痛点到代码证据，再到商业落地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按高校项目路演常用逻辑组织：背景痛点、解决方案、创新性、可行性、落地价值。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960120" y="1444752"/>
            <a:ext cx="0" cy="2596896"/>
          </a:xfrm>
          <a:prstGeom prst="line">
            <a:avLst/>
          </a:prstGeom>
          <a:noFill/>
          <a:ln w="1524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1252728"/>
            <a:ext cx="347472" cy="347472"/>
          </a:xfrm>
          <a:prstGeom prst="ellipse">
            <a:avLst/>
          </a:prstGeom>
          <a:solidFill>
            <a:srgbClr val="1677B8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1371600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20" dirty="0"/>
          </a:p>
        </p:txBody>
      </p:sp>
      <p:sp>
        <p:nvSpPr>
          <p:cNvPr id="14" name="Text 12"/>
          <p:cNvSpPr/>
          <p:nvPr/>
        </p:nvSpPr>
        <p:spPr>
          <a:xfrm>
            <a:off x="1335024" y="1234440"/>
            <a:ext cx="12618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调研痛点</a:t>
            </a:r>
            <a:endParaRPr lang="en-US" sz="1220" dirty="0"/>
          </a:p>
        </p:txBody>
      </p:sp>
      <p:sp>
        <p:nvSpPr>
          <p:cNvPr id="15" name="Text 13"/>
          <p:cNvSpPr/>
          <p:nvPr/>
        </p:nvSpPr>
        <p:spPr>
          <a:xfrm>
            <a:off x="2697480" y="1252728"/>
            <a:ext cx="544068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Agent 高权限执行链进入真实开发流程，安全边界仍依赖事后日志。</a:t>
            </a:r>
            <a:endParaRPr lang="en-US" sz="840" dirty="0"/>
          </a:p>
        </p:txBody>
      </p:sp>
      <p:sp>
        <p:nvSpPr>
          <p:cNvPr id="16" name="Shape 14"/>
          <p:cNvSpPr/>
          <p:nvPr/>
        </p:nvSpPr>
        <p:spPr>
          <a:xfrm>
            <a:off x="786384" y="1856232"/>
            <a:ext cx="347472" cy="3474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1975104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20" dirty="0"/>
          </a:p>
        </p:txBody>
      </p:sp>
      <p:sp>
        <p:nvSpPr>
          <p:cNvPr id="18" name="Text 16"/>
          <p:cNvSpPr/>
          <p:nvPr/>
        </p:nvSpPr>
        <p:spPr>
          <a:xfrm>
            <a:off x="1335024" y="1837944"/>
            <a:ext cx="12618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案例证据</a:t>
            </a:r>
            <a:endParaRPr lang="en-US" sz="1220" dirty="0"/>
          </a:p>
        </p:txBody>
      </p:sp>
      <p:sp>
        <p:nvSpPr>
          <p:cNvPr id="19" name="Text 17"/>
          <p:cNvSpPr/>
          <p:nvPr/>
        </p:nvSpPr>
        <p:spPr>
          <a:xfrm>
            <a:off x="2697480" y="1856232"/>
            <a:ext cx="544068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密钥外泄、MCP 配置泄露、Copilot 信息泄露证明风险已经发生。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786384" y="2459736"/>
            <a:ext cx="347472" cy="3474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578608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20" dirty="0"/>
          </a:p>
        </p:txBody>
      </p:sp>
      <p:sp>
        <p:nvSpPr>
          <p:cNvPr id="22" name="Text 20"/>
          <p:cNvSpPr/>
          <p:nvPr/>
        </p:nvSpPr>
        <p:spPr>
          <a:xfrm>
            <a:off x="1335024" y="2441448"/>
            <a:ext cx="12618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2697480" y="2459736"/>
            <a:ext cx="544068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事实层 + hooks 语义层 + LSM/cgroup 阻断 + 图谱回放。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786384" y="3063240"/>
            <a:ext cx="347472" cy="3474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6384" y="3182112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20" dirty="0"/>
          </a:p>
        </p:txBody>
      </p:sp>
      <p:sp>
        <p:nvSpPr>
          <p:cNvPr id="26" name="Text 24"/>
          <p:cNvSpPr/>
          <p:nvPr/>
        </p:nvSpPr>
        <p:spPr>
          <a:xfrm>
            <a:off x="1335024" y="3044952"/>
            <a:ext cx="12618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工程进展</a:t>
            </a:r>
            <a:endParaRPr lang="en-US" sz="1220" dirty="0"/>
          </a:p>
        </p:txBody>
      </p:sp>
      <p:sp>
        <p:nvSpPr>
          <p:cNvPr id="27" name="Text 25"/>
          <p:cNvSpPr/>
          <p:nvPr/>
        </p:nvSpPr>
        <p:spPr>
          <a:xfrm>
            <a:off x="2697480" y="3063240"/>
            <a:ext cx="544068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 后端、eBPF 程序、Vue 前端、wrapper、适配器均已有实现。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786384" y="3666744"/>
            <a:ext cx="347472" cy="347472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677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6384" y="3785616"/>
            <a:ext cx="347472" cy="8229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620" dirty="0"/>
          </a:p>
        </p:txBody>
      </p:sp>
      <p:sp>
        <p:nvSpPr>
          <p:cNvPr id="30" name="Text 28"/>
          <p:cNvSpPr/>
          <p:nvPr/>
        </p:nvSpPr>
        <p:spPr>
          <a:xfrm>
            <a:off x="1335024" y="3648456"/>
            <a:ext cx="12618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2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商业落地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2697480" y="3666744"/>
            <a:ext cx="544068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从高校实验室与 AI coding 团队切入，扩展企业私有化与教育服务。</a:t>
            </a:r>
            <a:endParaRPr lang="en-US" sz="840" dirty="0"/>
          </a:p>
        </p:txBody>
      </p:sp>
      <p:sp>
        <p:nvSpPr>
          <p:cNvPr id="32" name="Shape 30"/>
          <p:cNvSpPr/>
          <p:nvPr/>
        </p:nvSpPr>
        <p:spPr>
          <a:xfrm>
            <a:off x="749808" y="4343400"/>
            <a:ext cx="7818120" cy="347472"/>
          </a:xfrm>
          <a:prstGeom prst="roundRect">
            <a:avLst>
              <a:gd name="adj" fmla="val 5263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688" y="4462272"/>
            <a:ext cx="745236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2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展演节奏建议：前 2 分钟交代外部证据，中间 5 分钟集中讲原型和演示，最后 2 分钟说明落地路径与资源诉求。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数据证据：AI Agent 不是未来风险，而是当前安全缺口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采用公开调研与安全报告，说明市场使用率、泄露规模、治理缺口和经济成本。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566928" y="1261872"/>
            <a:ext cx="1517904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353312"/>
            <a:ext cx="12801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685800" y="1645920"/>
            <a:ext cx="12801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Overflow：正在使用或计划使用 AI 开发工具</a:t>
            </a:r>
            <a:endParaRPr lang="en-US" sz="690" dirty="0"/>
          </a:p>
        </p:txBody>
      </p:sp>
      <p:sp>
        <p:nvSpPr>
          <p:cNvPr id="14" name="Shape 12"/>
          <p:cNvSpPr/>
          <p:nvPr/>
        </p:nvSpPr>
        <p:spPr>
          <a:xfrm>
            <a:off x="2212848" y="1261872"/>
            <a:ext cx="166420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31720" y="1353312"/>
            <a:ext cx="142646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28.65M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2331720" y="1645920"/>
            <a:ext cx="142646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GitGuardian：2025 年 public GitHub 新增硬编码密钥</a:t>
            </a:r>
            <a:endParaRPr lang="en-US" sz="690" dirty="0"/>
          </a:p>
        </p:txBody>
      </p:sp>
      <p:sp>
        <p:nvSpPr>
          <p:cNvPr id="17" name="Shape 15"/>
          <p:cNvSpPr/>
          <p:nvPr/>
        </p:nvSpPr>
        <p:spPr>
          <a:xfrm>
            <a:off x="4005072" y="1261872"/>
            <a:ext cx="1389888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23944" y="1353312"/>
            <a:ext cx="1152144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$4.44M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4123944" y="1645920"/>
            <a:ext cx="1152144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IBM：全球平均数据泄露成本</a:t>
            </a:r>
            <a:endParaRPr lang="en-US" sz="690" dirty="0"/>
          </a:p>
        </p:txBody>
      </p:sp>
      <p:sp>
        <p:nvSpPr>
          <p:cNvPr id="20" name="Shape 18"/>
          <p:cNvSpPr/>
          <p:nvPr/>
        </p:nvSpPr>
        <p:spPr>
          <a:xfrm>
            <a:off x="5522976" y="1261872"/>
            <a:ext cx="1408176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41848" y="1353312"/>
            <a:ext cx="117043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</a:t>
            </a:r>
            <a:endParaRPr lang="en-US" sz="1750" dirty="0"/>
          </a:p>
        </p:txBody>
      </p:sp>
      <p:sp>
        <p:nvSpPr>
          <p:cNvPr id="22" name="Text 20"/>
          <p:cNvSpPr/>
          <p:nvPr/>
        </p:nvSpPr>
        <p:spPr>
          <a:xfrm>
            <a:off x="5641848" y="1645920"/>
            <a:ext cx="117043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IBM：AI 相关事件组织缺少适当 AI 访问控制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059168" y="1261872"/>
            <a:ext cx="1517904" cy="658368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78040" y="1353312"/>
            <a:ext cx="128016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7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24,008</a:t>
            </a:r>
            <a:endParaRPr lang="en-US" sz="1750" dirty="0"/>
          </a:p>
        </p:txBody>
      </p:sp>
      <p:sp>
        <p:nvSpPr>
          <p:cNvPr id="25" name="Text 23"/>
          <p:cNvSpPr/>
          <p:nvPr/>
        </p:nvSpPr>
        <p:spPr>
          <a:xfrm>
            <a:off x="7178040" y="1645920"/>
            <a:ext cx="12801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9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GitGuardian：公开 MCP 配置中暴露的唯一密钥</a:t>
            </a:r>
            <a:endParaRPr lang="en-US" sz="690" dirty="0"/>
          </a:p>
        </p:txBody>
      </p:sp>
      <p:sp>
        <p:nvSpPr>
          <p:cNvPr id="26" name="Shape 24"/>
          <p:cNvSpPr/>
          <p:nvPr/>
        </p:nvSpPr>
        <p:spPr>
          <a:xfrm>
            <a:off x="566928" y="2212848"/>
            <a:ext cx="3950208" cy="2084832"/>
          </a:xfrm>
          <a:prstGeom prst="roundRect">
            <a:avLst>
              <a:gd name="adj" fmla="val 153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8096" y="2395728"/>
            <a:ext cx="3566160" cy="1426464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28" name="Image 0" descr="/home/steve/文档/vibe coding/agent-ebpf-filiter/docs/competition/2026-guochuang/output/ppt_assets_light/stackoverflow_ai_u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053" y="2395728"/>
            <a:ext cx="3084246" cy="142646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786384" y="3931920"/>
            <a:ext cx="352044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采用率提升叠加信任下降：Agent 一旦接入终端和文件系统，必须用运行时事实建立审计边界。</a:t>
            </a:r>
            <a:endParaRPr lang="en-US" sz="720" dirty="0"/>
          </a:p>
        </p:txBody>
      </p:sp>
      <p:sp>
        <p:nvSpPr>
          <p:cNvPr id="30" name="Shape 27"/>
          <p:cNvSpPr/>
          <p:nvPr/>
        </p:nvSpPr>
        <p:spPr>
          <a:xfrm>
            <a:off x="4718304" y="2212848"/>
            <a:ext cx="3858768" cy="2084832"/>
          </a:xfrm>
          <a:prstGeom prst="roundRect">
            <a:avLst>
              <a:gd name="adj" fmla="val 153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19472" y="2395728"/>
            <a:ext cx="3474720" cy="1426464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32" name="Image 1" descr="/home/steve/文档/vibe coding/agent-ebpf-filiter/docs/competition/2026-guochuang/output/ppt_assets_light/gitguardian_commits_develop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505" y="2395728"/>
            <a:ext cx="1648655" cy="1426464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4937760" y="3931920"/>
            <a:ext cx="3401568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软件生产提速：public commits 与开发者规模同步增长，密钥与配置治理需要跟上生成速度。</a:t>
            </a:r>
            <a:endParaRPr lang="en-US" sz="720" dirty="0"/>
          </a:p>
        </p:txBody>
      </p:sp>
      <p:sp>
        <p:nvSpPr>
          <p:cNvPr id="34" name="Shape 30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数据/图片：Stack Overflow Developer Survey 2025；GitGuardian State of Secrets Sprawl 2026；IBM Cost of a Data Breach Report 2025</a:t>
            </a:r>
            <a:endParaRPr lang="en-US" sz="6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02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真实案例：工具误用、密钥外泄、Copilot 数据外泄已形成样本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用报告截图替代概念化图标，降低生成感，同时让评委能追溯外部证据。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566928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13" name="Image 0" descr="/home/steve/文档/vibe coding/agent-ebpf-filiter/docs/competition/2026-guochuang/output/ppt_assets_light/csa_copilot_cover_thum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245" y="1444752"/>
            <a:ext cx="1862807" cy="13258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31520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M365 Copilot 信息泄露</a:t>
            </a:r>
            <a:endParaRPr lang="en-US" sz="1130" dirty="0"/>
          </a:p>
        </p:txBody>
      </p:sp>
      <p:sp>
        <p:nvSpPr>
          <p:cNvPr id="15" name="Text 12"/>
          <p:cNvSpPr/>
          <p:nvPr/>
        </p:nvSpPr>
        <p:spPr>
          <a:xfrm>
            <a:off x="731520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CSA 研究梳理 12 个月内多起 Copilot 相关披露；EchoLeak CVSS 9.3，体现上下文边界问题。</a:t>
            </a:r>
            <a:endParaRPr lang="en-US" sz="740" dirty="0"/>
          </a:p>
        </p:txBody>
      </p:sp>
      <p:sp>
        <p:nvSpPr>
          <p:cNvPr id="16" name="Shape 13"/>
          <p:cNvSpPr/>
          <p:nvPr/>
        </p:nvSpPr>
        <p:spPr>
          <a:xfrm>
            <a:off x="731520" y="4023360"/>
            <a:ext cx="1234440" cy="256032"/>
          </a:xfrm>
          <a:prstGeom prst="roundRect">
            <a:avLst>
              <a:gd name="adj" fmla="val 28571"/>
            </a:avLst>
          </a:prstGeom>
          <a:solidFill>
            <a:srgbClr val="FDEEEE"/>
          </a:solidFill>
          <a:ln w="10160">
            <a:solidFill>
              <a:srgbClr val="C74343">
                <a:alpha val="45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091940"/>
            <a:ext cx="11247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 runtime 证据链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3383280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47872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20" name="Image 1" descr="/home/steve/文档/vibe coding/agent-ebpf-filiter/docs/competition/2026-guochuang/output/ppt_assets_light/gitguardian_mcp_valid_secr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872" y="1607281"/>
            <a:ext cx="2048256" cy="1000821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47872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配置密钥泄露</a:t>
            </a:r>
            <a:endParaRPr lang="en-US" sz="1130" dirty="0"/>
          </a:p>
        </p:txBody>
      </p:sp>
      <p:sp>
        <p:nvSpPr>
          <p:cNvPr id="22" name="Text 18"/>
          <p:cNvSpPr/>
          <p:nvPr/>
        </p:nvSpPr>
        <p:spPr>
          <a:xfrm>
            <a:off x="3547872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 发现 24,008 个 MCP 相关唯一密钥，其中 2,117 个仍有效；配置本身成为攻击面。</a:t>
            </a:r>
            <a:endParaRPr lang="en-US" sz="740" dirty="0"/>
          </a:p>
        </p:txBody>
      </p:sp>
      <p:sp>
        <p:nvSpPr>
          <p:cNvPr id="23" name="Shape 19"/>
          <p:cNvSpPr/>
          <p:nvPr/>
        </p:nvSpPr>
        <p:spPr>
          <a:xfrm>
            <a:off x="3547872" y="4023360"/>
            <a:ext cx="1234440" cy="256032"/>
          </a:xfrm>
          <a:prstGeom prst="roundRect">
            <a:avLst>
              <a:gd name="adj" fmla="val 28571"/>
            </a:avLst>
          </a:prstGeom>
          <a:solidFill>
            <a:srgbClr val="EAF7F1"/>
          </a:solidFill>
          <a:ln w="10160">
            <a:solidFill>
              <a:srgbClr val="23865F">
                <a:alpha val="45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602736" y="4091940"/>
            <a:ext cx="11247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 runtime 证据链</a:t>
            </a:r>
            <a:endParaRPr lang="en-US" sz="750" dirty="0"/>
          </a:p>
        </p:txBody>
      </p:sp>
      <p:sp>
        <p:nvSpPr>
          <p:cNvPr id="25" name="Shape 21"/>
          <p:cNvSpPr/>
          <p:nvPr/>
        </p:nvSpPr>
        <p:spPr>
          <a:xfrm>
            <a:off x="6199632" y="1261872"/>
            <a:ext cx="2377440" cy="3108960"/>
          </a:xfrm>
          <a:prstGeom prst="roundRect">
            <a:avLst>
              <a:gd name="adj" fmla="val 134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364224" y="1444752"/>
            <a:ext cx="2048256" cy="132588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10160">
            <a:solidFill>
              <a:srgbClr val="E7EEF4"/>
            </a:solidFill>
            <a:prstDash val="solid"/>
          </a:ln>
        </p:spPr>
      </p:sp>
      <p:pic>
        <p:nvPicPr>
          <p:cNvPr id="27" name="Image 2" descr="/home/steve/文档/vibe coding/agent-ebpf-filiter/docs/competition/2026-guochuang/output/ppt_assets_light/owasp_llm_cover_thum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511288"/>
            <a:ext cx="2048256" cy="119280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364224" y="2999232"/>
            <a:ext cx="2048256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3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Agentic Tool Misuse</a:t>
            </a:r>
            <a:endParaRPr lang="en-US" sz="1130" dirty="0"/>
          </a:p>
        </p:txBody>
      </p:sp>
      <p:sp>
        <p:nvSpPr>
          <p:cNvPr id="29" name="Text 24"/>
          <p:cNvSpPr/>
          <p:nvPr/>
        </p:nvSpPr>
        <p:spPr>
          <a:xfrm>
            <a:off x="6364224" y="3364992"/>
            <a:ext cx="2029968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OWASP 将工具误用、权限滥用、不可追踪列为核心风险，强调日志、沙箱和实时边界。</a:t>
            </a:r>
            <a:endParaRPr lang="en-US" sz="740" dirty="0"/>
          </a:p>
        </p:txBody>
      </p:sp>
      <p:sp>
        <p:nvSpPr>
          <p:cNvPr id="30" name="Shape 25"/>
          <p:cNvSpPr/>
          <p:nvPr/>
        </p:nvSpPr>
        <p:spPr>
          <a:xfrm>
            <a:off x="6364224" y="4023360"/>
            <a:ext cx="1234440" cy="256032"/>
          </a:xfrm>
          <a:prstGeom prst="roundRect">
            <a:avLst>
              <a:gd name="adj" fmla="val 28571"/>
            </a:avLst>
          </a:prstGeom>
          <a:solidFill>
            <a:srgbClr val="EAF5FC"/>
          </a:solidFill>
          <a:ln w="10160">
            <a:solidFill>
              <a:srgbClr val="1677B8">
                <a:alpha val="45000"/>
              </a:srgbClr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419088" y="4091940"/>
            <a:ext cx="11247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 runtime 证据链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案例图片：Cloud Security Alliance 2026 Copilot research note；GitGuardian 2026 report；OWASP Top 10 for LLM Applications 2025 / Agentic AI Threats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03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问题：Agent 安全已从“回答错”变成“三个不可见”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 Agent 会启动终端、改文件、装依赖、访问网络，安全边界必须落到运行时。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76656" y="1298448"/>
            <a:ext cx="2395728" cy="22402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" y="1298448"/>
            <a:ext cx="45720" cy="224028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1444752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意图不可见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41248" y="1755648"/>
            <a:ext cx="2084832" cy="1691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EDR 看得到进程，却不知道哪个 run/task/tool_call 触发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Prompt 网关看得到文本，看不到 OS 行为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审计口径无法对齐“承诺”与“事实”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364992" y="1298448"/>
            <a:ext cx="2395728" cy="22402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4992" y="1298448"/>
            <a:ext cx="45720" cy="2240280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9584" y="1444752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链路不可见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29584" y="1755648"/>
            <a:ext cx="2084832" cy="1691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危险动作常发生在 shell、python、node、git、npm、curl 子进程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MCP、skills、依赖脚本扩大本机攻击面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父子进程上下文容易丢失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53328" y="1298448"/>
            <a:ext cx="2395728" cy="22402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3328" y="1298448"/>
            <a:ext cx="45720" cy="2240280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444752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阻断不可见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217920" y="1755648"/>
            <a:ext cx="2084832" cy="1691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事后日志难证明动作是否已被内核拒绝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UI 标红不等于 OS 层真实拒绝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安全团队需要可回放证据链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841248" y="3950208"/>
            <a:ext cx="7424928" cy="438912"/>
          </a:xfrm>
          <a:prstGeom prst="roundRect">
            <a:avLst>
              <a:gd name="adj" fmla="val 4167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4096512"/>
            <a:ext cx="705916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结论：评委真正需要看到的不是“再加一个大屏”，而是把 Agent 语义与操作系统事实合成可验证、可阻断、可复盘的证据链。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依据：OWASP LLM/Agentic AI 风险框架；GitGuardian 2026 secrets sprawl；IBM 2025 AI governance findings</a:t>
            </a:r>
            <a:endParaRPr lang="en-US" sz="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04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典型风险链：Prompt 注入 → 工具误用 → 子进程漂移 → 数据外泄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项目从执行链而不是单条日志看待 Agent 风险。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566928" y="1444752"/>
            <a:ext cx="1298448" cy="749808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0160">
            <a:solidFill>
              <a:srgbClr val="5B55A3">
                <a:alpha val="8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1627632"/>
            <a:ext cx="1115568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5B55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Prompt 注入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" y="1938528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 / Issue / README</a:t>
            </a:r>
            <a:endParaRPr lang="en-US" sz="680" dirty="0"/>
          </a:p>
        </p:txBody>
      </p:sp>
      <p:sp>
        <p:nvSpPr>
          <p:cNvPr id="14" name="Shape 12"/>
          <p:cNvSpPr/>
          <p:nvPr/>
        </p:nvSpPr>
        <p:spPr>
          <a:xfrm>
            <a:off x="1911096" y="1819656"/>
            <a:ext cx="283464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49424" y="1444752"/>
            <a:ext cx="1298448" cy="749808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0160">
            <a:solidFill>
              <a:srgbClr val="C66A1D">
                <a:alpha val="8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40864" y="1627632"/>
            <a:ext cx="1115568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C66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工具误用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340864" y="1938528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/ MCP / browser</a:t>
            </a:r>
            <a:endParaRPr lang="en-US" sz="680" dirty="0"/>
          </a:p>
        </p:txBody>
      </p:sp>
      <p:sp>
        <p:nvSpPr>
          <p:cNvPr id="18" name="Shape 16"/>
          <p:cNvSpPr/>
          <p:nvPr/>
        </p:nvSpPr>
        <p:spPr>
          <a:xfrm>
            <a:off x="3593592" y="1819656"/>
            <a:ext cx="283464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931920" y="1444752"/>
            <a:ext cx="1298448" cy="749808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0160">
            <a:solidFill>
              <a:srgbClr val="1677B8">
                <a:alpha val="8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23360" y="1627632"/>
            <a:ext cx="1115568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子进程漂移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1938528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/ node / curl</a:t>
            </a:r>
            <a:endParaRPr lang="en-US" sz="680" dirty="0"/>
          </a:p>
        </p:txBody>
      </p:sp>
      <p:sp>
        <p:nvSpPr>
          <p:cNvPr id="22" name="Shape 20"/>
          <p:cNvSpPr/>
          <p:nvPr/>
        </p:nvSpPr>
        <p:spPr>
          <a:xfrm>
            <a:off x="5276088" y="1819656"/>
            <a:ext cx="283464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614416" y="1444752"/>
            <a:ext cx="1298448" cy="749808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0160">
            <a:solidFill>
              <a:srgbClr val="C74343">
                <a:alpha val="8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05856" y="1627632"/>
            <a:ext cx="1115568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数据外泄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05856" y="1938528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secret / network / TLS</a:t>
            </a:r>
            <a:endParaRPr lang="en-US" sz="680" dirty="0"/>
          </a:p>
        </p:txBody>
      </p:sp>
      <p:sp>
        <p:nvSpPr>
          <p:cNvPr id="26" name="Shape 24"/>
          <p:cNvSpPr/>
          <p:nvPr/>
        </p:nvSpPr>
        <p:spPr>
          <a:xfrm>
            <a:off x="6958584" y="1819656"/>
            <a:ext cx="283464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296912" y="1444752"/>
            <a:ext cx="1298448" cy="749808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0160">
            <a:solidFill>
              <a:srgbClr val="23865F">
                <a:alpha val="8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88352" y="1627632"/>
            <a:ext cx="1115568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00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安全闭环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88352" y="1938528"/>
            <a:ext cx="11155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 / 阻断 / 回放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749808" y="2852928"/>
            <a:ext cx="2340864" cy="9601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9808" y="2852928"/>
            <a:ext cx="45720" cy="96012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2999232"/>
            <a:ext cx="204825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观测对象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914400" y="3310128"/>
            <a:ext cx="2029968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进程、文件、网络、策略、工具调用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538728" y="2852928"/>
            <a:ext cx="2340864" cy="9601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38728" y="2852928"/>
            <a:ext cx="45720" cy="960120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703320" y="2999232"/>
            <a:ext cx="204825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判断依据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3703320" y="3310128"/>
            <a:ext cx="2029968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意图是否与事实行为一致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327648" y="2852928"/>
            <a:ext cx="2340864" cy="9601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27648" y="2852928"/>
            <a:ext cx="45720" cy="96012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92240" y="2999232"/>
            <a:ext cx="204825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处置动作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492240" y="3310128"/>
            <a:ext cx="2029968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ALLOW / ALERT / BLOCK / REWRITE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04672" y="4187952"/>
            <a:ext cx="74980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1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与案例的对应关系：EchoLeak 证明“外部输入可驱动内部数据泄露”；MCP 密钥证明“配置即攻击面”；GitGuardian 数据证明“AI 辅助编码让密钥泄露速度提升”。</a:t>
            </a:r>
            <a:endParaRPr lang="en-US" sz="8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05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解决方案：看得见、说得清、拦得住、可复盘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eBPF 为事实底座，用 hooks/wrapper 补齐 Agent 语义，再进入图谱和策略闭环。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76656" y="1234440"/>
            <a:ext cx="7790688" cy="3017520"/>
          </a:xfrm>
          <a:prstGeom prst="roundRect">
            <a:avLst>
              <a:gd name="adj" fmla="val 106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24128" y="1481328"/>
            <a:ext cx="7086600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4128" y="1481328"/>
            <a:ext cx="54864" cy="310896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568196"/>
            <a:ext cx="114300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40" b="1" dirty="0">
                <a:solidFill>
                  <a:srgbClr val="5B55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/ CLI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2487168" y="1568196"/>
            <a:ext cx="539496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Codex、Claude、Gemini、Copilot、脚本与子进程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1024128" y="1938528"/>
            <a:ext cx="7086600" cy="310896"/>
          </a:xfrm>
          <a:prstGeom prst="roundRect">
            <a:avLst>
              <a:gd name="adj" fmla="val 5882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4128" y="1938528"/>
            <a:ext cx="54864" cy="310896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5296" y="2025396"/>
            <a:ext cx="114300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4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语义层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2487168" y="2025396"/>
            <a:ext cx="539496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wrapper / native hooks / adapters：run、task、tool_call、intent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1024128" y="2395728"/>
            <a:ext cx="7086600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24128" y="2395728"/>
            <a:ext cx="54864" cy="310896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25296" y="2482596"/>
            <a:ext cx="114300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40" b="1" dirty="0">
                <a:solidFill>
                  <a:srgbClr val="2386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事实层</a:t>
            </a:r>
            <a:endParaRPr lang="en-US" sz="840" dirty="0"/>
          </a:p>
        </p:txBody>
      </p:sp>
      <p:sp>
        <p:nvSpPr>
          <p:cNvPr id="23" name="Text 21"/>
          <p:cNvSpPr/>
          <p:nvPr/>
        </p:nvSpPr>
        <p:spPr>
          <a:xfrm>
            <a:off x="2487168" y="2482596"/>
            <a:ext cx="539496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tracepoints / cgroup / BPF LSM：exec、file、net、fork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1024128" y="2852928"/>
            <a:ext cx="7086600" cy="310896"/>
          </a:xfrm>
          <a:prstGeom prst="roundRect">
            <a:avLst>
              <a:gd name="adj" fmla="val 5882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24128" y="2852928"/>
            <a:ext cx="54864" cy="310896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25296" y="2939796"/>
            <a:ext cx="114300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4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策略层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2487168" y="2939796"/>
            <a:ext cx="539496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LSM、cgroup、wrapper：ALLOW / ALERT / BLOCK / REWRITE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1024128" y="3310128"/>
            <a:ext cx="7086600" cy="31089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24128" y="3310128"/>
            <a:ext cx="54864" cy="310896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25296" y="3396996"/>
            <a:ext cx="114300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40" b="1" dirty="0">
                <a:solidFill>
                  <a:srgbClr val="C66A1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证据层</a:t>
            </a:r>
            <a:endParaRPr lang="en-US" sz="840" dirty="0"/>
          </a:p>
        </p:txBody>
      </p:sp>
      <p:sp>
        <p:nvSpPr>
          <p:cNvPr id="31" name="Text 29"/>
          <p:cNvSpPr/>
          <p:nvPr/>
        </p:nvSpPr>
        <p:spPr>
          <a:xfrm>
            <a:off x="2487168" y="3396996"/>
            <a:ext cx="539496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EventEnvelope、semantic_alerts、Execution Graph、JSONL、OTLP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1024128" y="3840480"/>
            <a:ext cx="7086600" cy="256032"/>
          </a:xfrm>
          <a:prstGeom prst="roundRect">
            <a:avLst>
              <a:gd name="adj" fmla="val 7143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0" y="3918204"/>
            <a:ext cx="676656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7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核心差异：不是替代模型安全，而是在模型调用工具后，用操作系统事实证明它实际做了什么，并在危险动作发生前拦截。</a:t>
            </a:r>
            <a:endParaRPr lang="en-US" sz="77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06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当前原型：已不是概念图，而是可运行工程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仓库包含 Go 后端、eBPF 程序、Vue 前端、wrapper、适配器与部署脚本。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40080" y="1261872"/>
            <a:ext cx="3529584" cy="1133856"/>
          </a:xfrm>
          <a:prstGeom prst="roundRect">
            <a:avLst>
              <a:gd name="adj" fmla="val 28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1261872"/>
            <a:ext cx="45720" cy="1133856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1408176"/>
            <a:ext cx="32369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 后端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1719072"/>
            <a:ext cx="3218688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特权 runtime / HTTP+WS API / hooks / policy engine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426464"/>
            <a:ext cx="1417320" cy="786384"/>
          </a:xfrm>
          <a:prstGeom prst="roundRect">
            <a:avLst>
              <a:gd name="adj" fmla="val 2326"/>
            </a:avLst>
          </a:prstGeom>
          <a:solidFill>
            <a:srgbClr val="F6F9FC"/>
          </a:solidFill>
          <a:ln w="10160">
            <a:solidFill>
              <a:srgbClr val="DC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5184" y="1527048"/>
            <a:ext cx="121615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backend/main.go</a:t>
            </a:r>
            <a:endParaRPr lang="en-US" sz="6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backend/event_envelope.go</a:t>
            </a:r>
            <a:endParaRPr lang="en-US" sz="6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backend/semantic_alerts.go</a:t>
            </a:r>
            <a:endParaRPr lang="en-US" sz="6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backend/execution_graph.go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718304" y="1261872"/>
            <a:ext cx="3529584" cy="1133856"/>
          </a:xfrm>
          <a:prstGeom prst="roundRect">
            <a:avLst>
              <a:gd name="adj" fmla="val 28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8304" y="1261872"/>
            <a:ext cx="45720" cy="1133856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82896" y="1408176"/>
            <a:ext cx="32369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内核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82896" y="1719072"/>
            <a:ext cx="3218688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tracepoints / BPF LSM / cgroup 网络阻断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592824" y="1426464"/>
            <a:ext cx="1417320" cy="786384"/>
          </a:xfrm>
          <a:prstGeom prst="roundRect">
            <a:avLst>
              <a:gd name="adj" fmla="val 2326"/>
            </a:avLst>
          </a:prstGeom>
          <a:solidFill>
            <a:srgbClr val="F6F9FC"/>
          </a:solidFill>
          <a:ln w="10160">
            <a:solidFill>
              <a:srgbClr val="DC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93408" y="1527048"/>
            <a:ext cx="121615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backend/ebpf/agent_tracker.c</a:t>
            </a:r>
            <a:endParaRPr lang="en-US" sz="6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backend/ebpf/lsm_enforcer.c</a:t>
            </a:r>
            <a:endParaRPr lang="en-US" sz="6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backend/ebpf/cgroup_sandbox.c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640080" y="2743200"/>
            <a:ext cx="3529584" cy="1133856"/>
          </a:xfrm>
          <a:prstGeom prst="roundRect">
            <a:avLst>
              <a:gd name="adj" fmla="val 28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2743200"/>
            <a:ext cx="45720" cy="1133856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" y="2889504"/>
            <a:ext cx="32369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前端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04672" y="3200400"/>
            <a:ext cx="3218688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Dashboard / Execution Graph / Config / Plugins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514600" y="2907792"/>
            <a:ext cx="1417320" cy="786384"/>
          </a:xfrm>
          <a:prstGeom prst="roundRect">
            <a:avLst>
              <a:gd name="adj" fmla="val 2326"/>
            </a:avLst>
          </a:prstGeom>
          <a:solidFill>
            <a:srgbClr val="F6F9FC"/>
          </a:solidFill>
          <a:ln w="10160">
            <a:solidFill>
              <a:srgbClr val="DC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15184" y="3008376"/>
            <a:ext cx="121615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frontend/src/views/Dashboard.vue</a:t>
            </a:r>
            <a:endParaRPr lang="en-US" sz="6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frontend/src/views/ExecutionGraph.vue</a:t>
            </a:r>
            <a:endParaRPr lang="en-US" sz="6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frontend/src/views/Config.vue</a:t>
            </a:r>
            <a:endParaRPr lang="en-US" sz="6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frontend/src/views/Plugins.vue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4718304" y="2743200"/>
            <a:ext cx="3529584" cy="1133856"/>
          </a:xfrm>
          <a:prstGeom prst="roundRect">
            <a:avLst>
              <a:gd name="adj" fmla="val 28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18304" y="2743200"/>
            <a:ext cx="45720" cy="1133856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82896" y="2889504"/>
            <a:ext cx="32369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部署与验证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882896" y="3200400"/>
            <a:ext cx="3218688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systemd / rc.local / K8s / smoke tests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592824" y="2907792"/>
            <a:ext cx="1417320" cy="786384"/>
          </a:xfrm>
          <a:prstGeom prst="roundRect">
            <a:avLst>
              <a:gd name="adj" fmla="val 2326"/>
            </a:avLst>
          </a:prstGeom>
          <a:solidFill>
            <a:srgbClr val="F6F9FC"/>
          </a:solidFill>
          <a:ln w="10160">
            <a:solidFill>
              <a:srgbClr val="DC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93408" y="3008376"/>
            <a:ext cx="1216152" cy="5852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Makefile install/uninstall</a:t>
            </a:r>
            <a:endParaRPr lang="en-US" sz="6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scripts/os-enforcement-smoke.sh</a:t>
            </a:r>
            <a:endParaRPr lang="en-US" sz="6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docs/kubernetes.md</a:t>
            </a:r>
            <a:endParaRPr lang="en-US" sz="6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385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deploy/kubernetes/*.yaml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969264" y="4352544"/>
            <a:ext cx="7223760" cy="237744"/>
          </a:xfrm>
          <a:prstGeom prst="roundRect">
            <a:avLst>
              <a:gd name="adj" fmla="val 7692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52144" y="4430268"/>
            <a:ext cx="685800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答辩要点：每个卖点都能指到代码文件、演示页面和验证脚本，避免只停留在概念图。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07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创新一：BPF LSM + cgroup 形成确定性内核阻断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不是只做事后日志，而是在 exec/open/read/write/mmap/rename/connect 等路径前置决策。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40080" y="1243584"/>
            <a:ext cx="2487168" cy="2267712"/>
          </a:xfrm>
          <a:prstGeom prst="roundRect">
            <a:avLst>
              <a:gd name="adj" fmla="val 141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1243584"/>
            <a:ext cx="45720" cy="226771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1389888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1700784"/>
            <a:ext cx="2176272" cy="1719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bprm_check_security：执行前检查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file_open / file_permission：打开与读写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inode_*：创建、删除、重命名、链接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命中策略返回 -EACCES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346704" y="1243584"/>
            <a:ext cx="2487168" cy="2267712"/>
          </a:xfrm>
          <a:prstGeom prst="roundRect">
            <a:avLst>
              <a:gd name="adj" fmla="val 141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1243584"/>
            <a:ext cx="45720" cy="226771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11296" y="1389888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cgroup 网络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11296" y="1700784"/>
            <a:ext cx="2176272" cy="1719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connect4/connect6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sendmsg4/sendmsg6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按 cgroup、IP、IPv6、端口阻断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覆盖 TCP/UDP 外联场景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53328" y="1243584"/>
            <a:ext cx="2487168" cy="2267712"/>
          </a:xfrm>
          <a:prstGeom prst="roundRect">
            <a:avLst>
              <a:gd name="adj" fmla="val 141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3328" y="1243584"/>
            <a:ext cx="45720" cy="2267712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389888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策略原则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217920" y="1700784"/>
            <a:ext cx="2176272" cy="1719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确定性 map lookup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ML/LLM 只建议，不直接内核阻断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策略通过认证 API 修改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阻断证据进入执行图谱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841248" y="3913632"/>
            <a:ext cx="7443216" cy="384048"/>
          </a:xfrm>
          <a:prstGeom prst="roundRect">
            <a:avLst>
              <a:gd name="adj" fmla="val 4762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7552" y="4041648"/>
            <a:ext cx="715060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评委可感知亮点：真实 OS 级拒绝，而不是 UI 上标红。代码证据：backend/ebpf/lsm_enforcer.c；backend/ebpf/cgroup_sandbox.c；scripts/os-enforcement-smoke.sh。</a:t>
            </a:r>
            <a:endParaRPr lang="en-US" sz="7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08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创新二：进程树追踪让 Agent 子进程不再“失踪”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Agent 行为经常发生在 /bin/sh、python、node、git、npm、curl 等子进程。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749808" y="1517904"/>
            <a:ext cx="96012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5B55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1668780"/>
            <a:ext cx="850392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60" dirty="0"/>
          </a:p>
        </p:txBody>
      </p:sp>
      <p:sp>
        <p:nvSpPr>
          <p:cNvPr id="13" name="Shape 11"/>
          <p:cNvSpPr/>
          <p:nvPr/>
        </p:nvSpPr>
        <p:spPr>
          <a:xfrm>
            <a:off x="1737360" y="1737360"/>
            <a:ext cx="274320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084832" y="1517904"/>
            <a:ext cx="96012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1677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39696" y="1668780"/>
            <a:ext cx="850392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3072384" y="1737360"/>
            <a:ext cx="384048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529584" y="1517904"/>
            <a:ext cx="96012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66A1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4448" y="1668780"/>
            <a:ext cx="850392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4517136" y="1737360"/>
            <a:ext cx="256032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846320" y="1517904"/>
            <a:ext cx="96012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66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1668780"/>
            <a:ext cx="850392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python/node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5833872" y="1737360"/>
            <a:ext cx="457200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364224" y="1517904"/>
            <a:ext cx="96012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C7434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19088" y="1668780"/>
            <a:ext cx="850392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file/net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7351776" y="1737360"/>
            <a:ext cx="91440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516368" y="1517904"/>
            <a:ext cx="960120" cy="43891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0160">
            <a:solidFill>
              <a:srgbClr val="2386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71232" y="1668780"/>
            <a:ext cx="850392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768096" y="2743200"/>
            <a:ext cx="2377440" cy="1078992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8096" y="2743200"/>
            <a:ext cx="45720" cy="107899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32688" y="2889504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继承字段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32688" y="3200400"/>
            <a:ext cx="2066544" cy="5303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agent_run_id / task_id / tool_call_id / trace_id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383280" y="2743200"/>
            <a:ext cx="2377440" cy="1078992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3280" y="2743200"/>
            <a:ext cx="45720" cy="107899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47872" y="2889504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事实字段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547872" y="3200400"/>
            <a:ext cx="2066544" cy="5303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PID/TGID/PPID、comm、cwd、cgroup_id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998464" y="2743200"/>
            <a:ext cx="2377440" cy="1078992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98464" y="2743200"/>
            <a:ext cx="45720" cy="1078992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63056" y="2889504"/>
            <a:ext cx="208483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复盘结果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163056" y="3200400"/>
            <a:ext cx="2066544" cy="5303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一条链路回放所有子进程与对象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代码证据：backend/event_context.go 从父 PID 或 cgroup 继承 Agent 上下文；执行图谱将进程、文件、网络和策略关联起来。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09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创新三：语义-事实一致性检测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把工具声明的意图与 eBPF 事实对比，识别“说是读文件，实际在外联/读密钥”。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58368" y="1261872"/>
            <a:ext cx="2240280" cy="219456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61872"/>
            <a:ext cx="45720" cy="219456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408176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语义输入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1719072"/>
            <a:ext cx="1929384" cy="1645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tool_name / task / prompt 摘要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wrapper 决策请求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native hook 元数据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预期资源与只读/可写声明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999232" y="2331720"/>
            <a:ext cx="310896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419856" y="1261872"/>
            <a:ext cx="2240280" cy="219456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19856" y="1261872"/>
            <a:ext cx="45720" cy="219456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4448" y="1408176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事实输入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584448" y="1719072"/>
            <a:ext cx="1929384" cy="1645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exec/open/connect/send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进程树、路径、网络端点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BPF LSM/cgroup 决策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阻断/告警/放行结果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760720" y="2331720"/>
            <a:ext cx="310896" cy="0"/>
          </a:xfrm>
          <a:prstGeom prst="line">
            <a:avLst/>
          </a:prstGeom>
          <a:noFill/>
          <a:ln w="17780">
            <a:solidFill>
              <a:srgbClr val="8293A3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81344" y="1261872"/>
            <a:ext cx="2240280" cy="219456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261872"/>
            <a:ext cx="45720" cy="2194560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5936" y="1408176"/>
            <a:ext cx="1947672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输出告警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345936" y="1719072"/>
            <a:ext cx="1929384" cy="1645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SECRET_ACCESS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UNEXPECTED_NETWORK_EGRESS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WORKSPACE_ESCAPE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TOKEN_EXFIL_RISK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77824" y="3913632"/>
            <a:ext cx="7388352" cy="420624"/>
          </a:xfrm>
          <a:prstGeom prst="roundRect">
            <a:avLst>
              <a:gd name="adj" fmla="val 4348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050792"/>
            <a:ext cx="702259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示例：任务声明为只读代码审查，但子进程访问 ~/.ssh 或向未知公网地址发送数据 → 触发高风险告警/阻断。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代码证据：backend/semantic_alerts.go；backend/event_envelope.go；backend/execution_graph.go。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10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演示场景：三分钟证明“看得见、说得清、拦得住”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现场优先展示硬核闭环，避免只展示静态大屏。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713232" y="1280160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444752"/>
            <a:ext cx="54864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3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00:00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1627632" y="1389888"/>
            <a:ext cx="0" cy="237744"/>
          </a:xfrm>
          <a:prstGeom prst="line">
            <a:avLst/>
          </a:prstGeom>
          <a:noFill/>
          <a:ln w="25400">
            <a:solidFill>
              <a:srgbClr val="C743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47088" y="1399032"/>
            <a:ext cx="1024128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4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敏感路径</a:t>
            </a:r>
            <a:endParaRPr lang="en-US" sz="1040" dirty="0"/>
          </a:p>
        </p:txBody>
      </p:sp>
      <p:sp>
        <p:nvSpPr>
          <p:cNvPr id="15" name="Text 13"/>
          <p:cNvSpPr/>
          <p:nvPr/>
        </p:nvSpPr>
        <p:spPr>
          <a:xfrm>
            <a:off x="3035808" y="1408176"/>
            <a:ext cx="498348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尝试读取 .env / ssh key → SECRET_ACCESS + 任务归因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713232" y="1993392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2157984"/>
            <a:ext cx="54864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3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00:50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1627632" y="2103120"/>
            <a:ext cx="0" cy="237744"/>
          </a:xfrm>
          <a:prstGeom prst="line">
            <a:avLst/>
          </a:prstGeom>
          <a:noFill/>
          <a:ln w="25400">
            <a:solidFill>
              <a:srgbClr val="C66A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2112264"/>
            <a:ext cx="1024128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4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异常外联</a:t>
            </a:r>
            <a:endParaRPr lang="en-US" sz="1040" dirty="0"/>
          </a:p>
        </p:txBody>
      </p:sp>
      <p:sp>
        <p:nvSpPr>
          <p:cNvPr id="20" name="Text 18"/>
          <p:cNvSpPr/>
          <p:nvPr/>
        </p:nvSpPr>
        <p:spPr>
          <a:xfrm>
            <a:off x="3035808" y="2121408"/>
            <a:ext cx="498348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curl / python 子进程连接未知 IP:port → UNEXPECTED_NETWORK_EGRESS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3232" y="2706624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2871216"/>
            <a:ext cx="54864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3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01:40</a:t>
            </a: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1627632" y="2816352"/>
            <a:ext cx="0" cy="237744"/>
          </a:xfrm>
          <a:prstGeom prst="line">
            <a:avLst/>
          </a:prstGeom>
          <a:noFill/>
          <a:ln w="25400">
            <a:solidFill>
              <a:srgbClr val="23865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825496"/>
            <a:ext cx="1024128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4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内核阻断</a:t>
            </a:r>
            <a:endParaRPr lang="en-US" sz="1040" dirty="0"/>
          </a:p>
        </p:txBody>
      </p:sp>
      <p:sp>
        <p:nvSpPr>
          <p:cNvPr id="25" name="Text 23"/>
          <p:cNvSpPr/>
          <p:nvPr/>
        </p:nvSpPr>
        <p:spPr>
          <a:xfrm>
            <a:off x="3035808" y="2834640"/>
            <a:ext cx="498348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 返回 EACCES，cgroup 拒绝 connect/sendmsg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13232" y="3419856"/>
            <a:ext cx="7790688" cy="457200"/>
          </a:xfrm>
          <a:prstGeom prst="roundRect">
            <a:avLst>
              <a:gd name="adj" fmla="val 5000"/>
            </a:avLst>
          </a:prstGeom>
          <a:solidFill>
            <a:srgbClr val="F3F8FC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3584448"/>
            <a:ext cx="54864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3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02:30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1627632" y="3529584"/>
            <a:ext cx="0" cy="237744"/>
          </a:xfrm>
          <a:prstGeom prst="line">
            <a:avLst/>
          </a:prstGeom>
          <a:noFill/>
          <a:ln w="25400">
            <a:solidFill>
              <a:srgbClr val="1677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847088" y="3538728"/>
            <a:ext cx="1024128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04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图谱回放</a:t>
            </a:r>
            <a:endParaRPr lang="en-US" sz="1040" dirty="0"/>
          </a:p>
        </p:txBody>
      </p:sp>
      <p:sp>
        <p:nvSpPr>
          <p:cNvPr id="30" name="Text 28"/>
          <p:cNvSpPr/>
          <p:nvPr/>
        </p:nvSpPr>
        <p:spPr>
          <a:xfrm>
            <a:off x="3035808" y="3547872"/>
            <a:ext cx="4983480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Run → Tool Call → Process → File/Network → Policy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914400" y="4297680"/>
            <a:ext cx="7315200" cy="274320"/>
          </a:xfrm>
          <a:prstGeom prst="roundRect">
            <a:avLst>
              <a:gd name="adj" fmla="val 6667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" y="4384548"/>
            <a:ext cx="694944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答辩话术：我们不是只做可视化，而是在内核执行路径上获取证据并形成策略闭环。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11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与评审规则对齐：四个维度逐项回应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高教主赛道创意组重点：个人成长 30、项目创新 30、产业价值 25、团队协作 15。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713232" y="1316736"/>
            <a:ext cx="3529584" cy="89611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3232" y="1316736"/>
            <a:ext cx="45720" cy="89611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7824" y="1463040"/>
            <a:ext cx="32369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个人成长 30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7824" y="1773936"/>
            <a:ext cx="3218688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课程知识到 eBPF 原型；调研 Agent 安全真实问题；专创融合。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754880" y="1316736"/>
            <a:ext cx="3529584" cy="89611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1316736"/>
            <a:ext cx="45720" cy="89611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1463040"/>
            <a:ext cx="32369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项目创新 30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919472" y="1773936"/>
            <a:ext cx="3218688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BPF LSM、内核态阻断、进程树、语义-事实一致性。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13232" y="2578608"/>
            <a:ext cx="3529584" cy="89611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3232" y="2578608"/>
            <a:ext cx="45720" cy="896112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7824" y="2724912"/>
            <a:ext cx="32369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产业价值 25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77824" y="3035808"/>
            <a:ext cx="3218688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coding 团队、高校实验室、企业安全审计强需求。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54880" y="2578608"/>
            <a:ext cx="3529584" cy="89611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0" y="2578608"/>
            <a:ext cx="45720" cy="896112"/>
          </a:xfrm>
          <a:prstGeom prst="rect">
            <a:avLst/>
          </a:prstGeom>
          <a:solidFill>
            <a:srgbClr val="5B55A3"/>
          </a:solidFill>
          <a:ln w="12700">
            <a:solidFill>
              <a:srgbClr val="5B55A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19472" y="2724912"/>
            <a:ext cx="3236976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团队协作 15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19472" y="3035808"/>
            <a:ext cx="3218688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内核、后端、前端、算法、商业分工清晰。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877824" y="4224528"/>
            <a:ext cx="7388352" cy="274320"/>
          </a:xfrm>
          <a:prstGeom prst="roundRect">
            <a:avLst>
              <a:gd name="adj" fmla="val 6667"/>
            </a:avLst>
          </a:prstGeom>
          <a:solidFill>
            <a:srgbClr val="F3F8FC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78992" y="4315968"/>
            <a:ext cx="6986016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规则依据：2025 高教主赛道创意组评审规则；2026 正式通知发布后需复核。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12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目标市场：AI Agent 落地越快，运行时安全越刚需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从教育科研切入，扩展到 AI coding 团队和企业私有化部署。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40080" y="1243584"/>
            <a:ext cx="2944368" cy="2926080"/>
          </a:xfrm>
          <a:prstGeom prst="roundRect">
            <a:avLst>
              <a:gd name="adj" fmla="val 1094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426464"/>
            <a:ext cx="2578608" cy="1426464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pic>
        <p:nvPicPr>
          <p:cNvPr id="13" name="Image 0" descr="/home/steve/文档/vibe coding/agent-ebpf-filiter/docs/competition/2026-guochuang/output/ppt_assets_light/gitguardian_state_20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534" y="1426464"/>
            <a:ext cx="2439460" cy="142646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59536" y="3054096"/>
            <a:ext cx="109728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220" b="1" dirty="0">
                <a:solidFill>
                  <a:srgbClr val="C743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风险信号</a:t>
            </a:r>
            <a:endParaRPr lang="en-US" sz="1220" dirty="0"/>
          </a:p>
        </p:txBody>
      </p:sp>
      <p:sp>
        <p:nvSpPr>
          <p:cNvPr id="15" name="Text 12"/>
          <p:cNvSpPr/>
          <p:nvPr/>
        </p:nvSpPr>
        <p:spPr>
          <a:xfrm>
            <a:off x="859536" y="3383280"/>
            <a:ext cx="2487168" cy="3291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GitGuardian：AI service secrets 2025 年达到 1,275,105，YoY +81%；AI 辅助提交泄露率高于全站基线。</a:t>
            </a:r>
            <a:endParaRPr lang="en-US" sz="700" dirty="0"/>
          </a:p>
        </p:txBody>
      </p:sp>
      <p:sp>
        <p:nvSpPr>
          <p:cNvPr id="16" name="Shape 13"/>
          <p:cNvSpPr/>
          <p:nvPr/>
        </p:nvSpPr>
        <p:spPr>
          <a:xfrm>
            <a:off x="3913632" y="1371600"/>
            <a:ext cx="1353312" cy="2340864"/>
          </a:xfrm>
          <a:prstGeom prst="roundRect">
            <a:avLst>
              <a:gd name="adj" fmla="val 236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913632" y="1371600"/>
            <a:ext cx="45720" cy="2340864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078224" y="1517904"/>
            <a:ext cx="106070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高校实验室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078224" y="1828800"/>
            <a:ext cx="1042416" cy="17922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eBPF/AI安全教学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课程实验与竞赛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软著/论文/项目成果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5468112" y="1371600"/>
            <a:ext cx="1353312" cy="2340864"/>
          </a:xfrm>
          <a:prstGeom prst="roundRect">
            <a:avLst>
              <a:gd name="adj" fmla="val 236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68112" y="1371600"/>
            <a:ext cx="45720" cy="2340864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32704" y="1517904"/>
            <a:ext cx="106070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coding 团队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632704" y="1828800"/>
            <a:ext cx="1042416" cy="17922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本地/云端 Agent 审计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敏感文件与外联治理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团队策略模板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022592" y="1371600"/>
            <a:ext cx="1353312" cy="2340864"/>
          </a:xfrm>
          <a:prstGeom prst="roundRect">
            <a:avLst>
              <a:gd name="adj" fmla="val 2365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022592" y="1371600"/>
            <a:ext cx="45720" cy="2340864"/>
          </a:xfrm>
          <a:prstGeom prst="rect">
            <a:avLst/>
          </a:prstGeom>
          <a:solidFill>
            <a:srgbClr val="C66A1D"/>
          </a:solidFill>
          <a:ln w="12700">
            <a:solidFill>
              <a:srgbClr val="C66A1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187184" y="1517904"/>
            <a:ext cx="1060704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企业安全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7187184" y="1828800"/>
            <a:ext cx="1042416" cy="17922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私有化部署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审计报表与 SIEM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合规留存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3968496" y="4078224"/>
            <a:ext cx="4315968" cy="274320"/>
          </a:xfrm>
          <a:prstGeom prst="roundRect">
            <a:avLst>
              <a:gd name="adj" fmla="val 6667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114800" y="4165092"/>
            <a:ext cx="4023360" cy="731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打法：先低门槛开源获客，再用专业版/私有化/培训完成转化。</a:t>
            </a:r>
            <a:endParaRPr lang="en-US" sz="780" dirty="0"/>
          </a:p>
        </p:txBody>
      </p:sp>
      <p:sp>
        <p:nvSpPr>
          <p:cNvPr id="30" name="Shape 27"/>
          <p:cNvSpPr/>
          <p:nvPr/>
        </p:nvSpPr>
        <p:spPr>
          <a:xfrm>
            <a:off x="512064" y="4626864"/>
            <a:ext cx="7671816" cy="0"/>
          </a:xfrm>
          <a:prstGeom prst="line">
            <a:avLst/>
          </a:prstGeom>
          <a:noFill/>
          <a:ln w="10160">
            <a:solidFill>
              <a:srgbClr val="E7EEF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0352" y="4718304"/>
            <a:ext cx="754380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8293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市场证据：Stack Overflow 2025 AI adoption；GitGuardian 2026 secrets sprawl；IBM 2025 AI oversight gap。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13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商业模式：开源核心 + 专业版 + 私有化 + 教育服务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保留技术影响力，同时形成可收费的团队、企业与教学版本。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58368" y="1298448"/>
            <a:ext cx="7827264" cy="2761488"/>
          </a:xfrm>
          <a:prstGeom prst="roundRect">
            <a:avLst>
              <a:gd name="adj" fmla="val 1159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1572768"/>
            <a:ext cx="157276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2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2505456" y="1572768"/>
            <a:ext cx="148132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2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4005072" y="1572768"/>
            <a:ext cx="4315968" cy="1097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2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核心价值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859536" y="1810512"/>
            <a:ext cx="7424928" cy="0"/>
          </a:xfrm>
          <a:prstGeom prst="line">
            <a:avLst/>
          </a:prstGeom>
          <a:noFill/>
          <a:ln w="10160">
            <a:solidFill>
              <a:srgbClr val="D9E6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1993392"/>
            <a:ext cx="15727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505456" y="1993392"/>
            <a:ext cx="148132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免费/开源</a:t>
            </a:r>
            <a:endParaRPr lang="en-US" sz="740" dirty="0"/>
          </a:p>
        </p:txBody>
      </p:sp>
      <p:sp>
        <p:nvSpPr>
          <p:cNvPr id="18" name="Text 16"/>
          <p:cNvSpPr/>
          <p:nvPr/>
        </p:nvSpPr>
        <p:spPr>
          <a:xfrm>
            <a:off x="4005072" y="1993392"/>
            <a:ext cx="43159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单机观测、基础告警、教学实验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841248" y="2313432"/>
            <a:ext cx="7461504" cy="274320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2359152"/>
            <a:ext cx="15727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Pro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505456" y="2359152"/>
            <a:ext cx="148132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3.98万/年起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4005072" y="2359152"/>
            <a:ext cx="43159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团队策略、报表/训练样本、多用户</a:t>
            </a:r>
            <a:endParaRPr lang="en-US" sz="740" dirty="0"/>
          </a:p>
        </p:txBody>
      </p:sp>
      <p:sp>
        <p:nvSpPr>
          <p:cNvPr id="23" name="Text 21"/>
          <p:cNvSpPr/>
          <p:nvPr/>
        </p:nvSpPr>
        <p:spPr>
          <a:xfrm>
            <a:off x="932688" y="2724912"/>
            <a:ext cx="15727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505456" y="2724912"/>
            <a:ext cx="148132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19.8万/年起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4005072" y="2724912"/>
            <a:ext cx="43159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私有化/多节点、SSO、审计留存、SIEM</a:t>
            </a:r>
            <a:endParaRPr lang="en-US" sz="740" dirty="0"/>
          </a:p>
        </p:txBody>
      </p:sp>
      <p:sp>
        <p:nvSpPr>
          <p:cNvPr id="26" name="Shape 24"/>
          <p:cNvSpPr/>
          <p:nvPr/>
        </p:nvSpPr>
        <p:spPr>
          <a:xfrm>
            <a:off x="841248" y="3044952"/>
            <a:ext cx="7461504" cy="274320"/>
          </a:xfrm>
          <a:prstGeom prst="rect">
            <a:avLst/>
          </a:prstGeom>
          <a:solidFill>
            <a:srgbClr val="F3F8FC"/>
          </a:solidFill>
          <a:ln w="12700">
            <a:solidFill>
              <a:srgbClr val="F3F8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2688" y="3090672"/>
            <a:ext cx="15727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 Kit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505456" y="3090672"/>
            <a:ext cx="148132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3万/套起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4005072" y="3090672"/>
            <a:ext cx="43159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课程实验、靶场、竞赛训练营</a:t>
            </a:r>
            <a:endParaRPr lang="en-US" sz="740" dirty="0"/>
          </a:p>
        </p:txBody>
      </p:sp>
      <p:sp>
        <p:nvSpPr>
          <p:cNvPr id="30" name="Text 28"/>
          <p:cNvSpPr/>
          <p:nvPr/>
        </p:nvSpPr>
        <p:spPr>
          <a:xfrm>
            <a:off x="932688" y="3456432"/>
            <a:ext cx="15727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05456" y="3456432"/>
            <a:ext cx="148132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5-20万/项目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4005072" y="3456432"/>
            <a:ext cx="431596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PoC、红队 replay、策略调优</a:t>
            </a:r>
            <a:endParaRPr lang="en-US" sz="740" dirty="0"/>
          </a:p>
        </p:txBody>
      </p:sp>
      <p:sp>
        <p:nvSpPr>
          <p:cNvPr id="33" name="Text 31"/>
          <p:cNvSpPr/>
          <p:nvPr/>
        </p:nvSpPr>
        <p:spPr>
          <a:xfrm>
            <a:off x="950976" y="4370832"/>
            <a:ext cx="7242048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4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注：价格为校赛版测算，提交前建议用真实客户访谈、试点意向或合同报价校准。</a:t>
            </a:r>
            <a:endParaRPr lang="en-US" sz="7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14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实施路线：把原型做成可验证产品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围绕竞赛、试点、知识产权和商业化四条线推进。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960120" y="2212848"/>
            <a:ext cx="7086600" cy="0"/>
          </a:xfrm>
          <a:prstGeom prst="line">
            <a:avLst/>
          </a:prstGeom>
          <a:noFill/>
          <a:ln w="2794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0432" y="2039112"/>
            <a:ext cx="329184" cy="329184"/>
          </a:xfrm>
          <a:prstGeom prst="ellipse">
            <a:avLst/>
          </a:prstGeom>
          <a:solidFill>
            <a:srgbClr val="1677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" y="2651760"/>
            <a:ext cx="1353312" cy="1170432"/>
          </a:xfrm>
          <a:prstGeom prst="roundRect">
            <a:avLst>
              <a:gd name="adj" fmla="val 2344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" y="2852928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2026.05-06</a:t>
            </a:r>
            <a:endParaRPr lang="en-US" sz="670" dirty="0"/>
          </a:p>
        </p:txBody>
      </p:sp>
      <p:sp>
        <p:nvSpPr>
          <p:cNvPr id="15" name="Text 13"/>
          <p:cNvSpPr/>
          <p:nvPr/>
        </p:nvSpPr>
        <p:spPr>
          <a:xfrm>
            <a:off x="704088" y="3136392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校赛材料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704088" y="3456432"/>
            <a:ext cx="1152144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申报书 / PPT / 演示视频 / 稳定 demo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2852928" y="2039112"/>
            <a:ext cx="329184" cy="329184"/>
          </a:xfrm>
          <a:prstGeom prst="ellipse">
            <a:avLst/>
          </a:prstGeom>
          <a:solidFill>
            <a:srgbClr val="23865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2651760"/>
            <a:ext cx="1353312" cy="1170432"/>
          </a:xfrm>
          <a:prstGeom prst="roundRect">
            <a:avLst>
              <a:gd name="adj" fmla="val 2344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86584" y="2852928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2386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2026.06-08</a:t>
            </a:r>
            <a:endParaRPr lang="en-US" sz="670" dirty="0"/>
          </a:p>
        </p:txBody>
      </p:sp>
      <p:sp>
        <p:nvSpPr>
          <p:cNvPr id="20" name="Text 18"/>
          <p:cNvSpPr/>
          <p:nvPr/>
        </p:nvSpPr>
        <p:spPr>
          <a:xfrm>
            <a:off x="2386584" y="3136392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场景验证</a:t>
            </a:r>
            <a:endParaRPr lang="en-US" sz="960" dirty="0"/>
          </a:p>
        </p:txBody>
      </p:sp>
      <p:sp>
        <p:nvSpPr>
          <p:cNvPr id="21" name="Text 19"/>
          <p:cNvSpPr/>
          <p:nvPr/>
        </p:nvSpPr>
        <p:spPr>
          <a:xfrm>
            <a:off x="2386584" y="3456432"/>
            <a:ext cx="1152144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良性/恶意 replay、检测率/阻断率报告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4535424" y="2039112"/>
            <a:ext cx="329184" cy="329184"/>
          </a:xfrm>
          <a:prstGeom prst="ellipse">
            <a:avLst/>
          </a:prstGeom>
          <a:solidFill>
            <a:srgbClr val="C66A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68496" y="2651760"/>
            <a:ext cx="1353312" cy="1170432"/>
          </a:xfrm>
          <a:prstGeom prst="roundRect">
            <a:avLst>
              <a:gd name="adj" fmla="val 2344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69080" y="2852928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C66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2026.08-10</a:t>
            </a:r>
            <a:endParaRPr lang="en-US" sz="670" dirty="0"/>
          </a:p>
        </p:txBody>
      </p:sp>
      <p:sp>
        <p:nvSpPr>
          <p:cNvPr id="25" name="Text 23"/>
          <p:cNvSpPr/>
          <p:nvPr/>
        </p:nvSpPr>
        <p:spPr>
          <a:xfrm>
            <a:off x="4069080" y="3136392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试点应用</a:t>
            </a:r>
            <a:endParaRPr lang="en-US" sz="960" dirty="0"/>
          </a:p>
        </p:txBody>
      </p:sp>
      <p:sp>
        <p:nvSpPr>
          <p:cNvPr id="26" name="Text 24"/>
          <p:cNvSpPr/>
          <p:nvPr/>
        </p:nvSpPr>
        <p:spPr>
          <a:xfrm>
            <a:off x="4069080" y="3456432"/>
            <a:ext cx="1152144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课程/实验室/企业 PoC 反馈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6217920" y="2039112"/>
            <a:ext cx="329184" cy="329184"/>
          </a:xfrm>
          <a:prstGeom prst="ellipse">
            <a:avLst/>
          </a:prstGeom>
          <a:solidFill>
            <a:srgbClr val="5B55A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50992" y="2651760"/>
            <a:ext cx="1353312" cy="1170432"/>
          </a:xfrm>
          <a:prstGeom prst="roundRect">
            <a:avLst>
              <a:gd name="adj" fmla="val 2344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51576" y="2852928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5B55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2026.10-2027.03</a:t>
            </a:r>
            <a:endParaRPr lang="en-US" sz="670" dirty="0"/>
          </a:p>
        </p:txBody>
      </p:sp>
      <p:sp>
        <p:nvSpPr>
          <p:cNvPr id="30" name="Text 28"/>
          <p:cNvSpPr/>
          <p:nvPr/>
        </p:nvSpPr>
        <p:spPr>
          <a:xfrm>
            <a:off x="5751576" y="3136392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成果固化</a:t>
            </a:r>
            <a:endParaRPr lang="en-US" sz="960" dirty="0"/>
          </a:p>
        </p:txBody>
      </p:sp>
      <p:sp>
        <p:nvSpPr>
          <p:cNvPr id="31" name="Text 29"/>
          <p:cNvSpPr/>
          <p:nvPr/>
        </p:nvSpPr>
        <p:spPr>
          <a:xfrm>
            <a:off x="5751576" y="3456432"/>
            <a:ext cx="1152144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软著/专利/论文/合作证明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7900416" y="2039112"/>
            <a:ext cx="329184" cy="329184"/>
          </a:xfrm>
          <a:prstGeom prst="ellipse">
            <a:avLst/>
          </a:prstGeom>
          <a:solidFill>
            <a:srgbClr val="C7434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33488" y="2651760"/>
            <a:ext cx="1353312" cy="1170432"/>
          </a:xfrm>
          <a:prstGeom prst="roundRect">
            <a:avLst>
              <a:gd name="adj" fmla="val 2344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34072" y="2852928"/>
            <a:ext cx="1152144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C743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670" dirty="0"/>
          </a:p>
        </p:txBody>
      </p:sp>
      <p:sp>
        <p:nvSpPr>
          <p:cNvPr id="35" name="Text 33"/>
          <p:cNvSpPr/>
          <p:nvPr/>
        </p:nvSpPr>
        <p:spPr>
          <a:xfrm>
            <a:off x="7434072" y="3136392"/>
            <a:ext cx="1152144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6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产品化</a:t>
            </a:r>
            <a:endParaRPr lang="en-US" sz="960" dirty="0"/>
          </a:p>
        </p:txBody>
      </p:sp>
      <p:sp>
        <p:nvSpPr>
          <p:cNvPr id="36" name="Text 34"/>
          <p:cNvSpPr/>
          <p:nvPr/>
        </p:nvSpPr>
        <p:spPr>
          <a:xfrm>
            <a:off x="7434072" y="3456432"/>
            <a:ext cx="1152144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5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专业版、多节点、企业私有化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841248" y="4352544"/>
            <a:ext cx="745236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阶段目标都对应可验收证据：脚本结果、演示录屏、试点反馈、知识产权材料和可复现 benchmark。</a:t>
            </a:r>
            <a:endParaRPr lang="en-US" sz="76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15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团队分工与合规边界：高权限工具必须讲清楚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提交前将【待填】替换为真实姓名、学号、年级、学院与贡献证据。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58368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1261872"/>
            <a:ext cx="45720" cy="2468880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负责人：【待填】总体架构 / 答辩 / 进度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eBPF：【待填】LSM / cgroup / tracepoints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后端：【待填】Go API / EventEnvelope / 策略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前端：【待填】Vue / 执行图谱 / 低代码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算法评测：【待填】ML / replay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商业调研：【待填】客户访谈 / 财务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328416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8416" y="1261872"/>
            <a:ext cx="45720" cy="2468880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93008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权限与隐私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93008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后端加载 eBPF，保持 root/特权边界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写 API、shell、策略变更均有 token 与 runtime gate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TLS 明文捕获默认关闭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事件流只保留摘要/长度/角色/厂商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98464" y="1261872"/>
            <a:ext cx="2487168" cy="2468880"/>
          </a:xfrm>
          <a:prstGeom prst="roundRect">
            <a:avLst>
              <a:gd name="adj" fmla="val 129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98464" y="1261872"/>
            <a:ext cx="45720" cy="2468880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63056" y="1408176"/>
            <a:ext cx="21945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误报与合规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163056" y="1719072"/>
            <a:ext cx="2176272" cy="19202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先观察模式再阻断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回放 benchmark 调优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ML/LLM 建议需人工确认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用于本地/授权环境，不采集未授权数据</a:t>
            </a:r>
            <a:endParaRPr lang="en-US" sz="8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演示数据必须脱敏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77824" y="4297680"/>
            <a:ext cx="740664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6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团队证明建议：commit 记录、模块负责人截图、导师指导记录、测试报告、软著/论文/专利分工。</a:t>
            </a:r>
            <a:endParaRPr lang="en-US" sz="76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DFF"/>
          </a:solidFill>
          <a:ln w="12700">
            <a:solidFill>
              <a:srgbClr val="FBFD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35240" y="0"/>
            <a:ext cx="1508760" cy="7315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58200" y="4700016"/>
            <a:ext cx="438912" cy="246888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58200" y="4759452"/>
            <a:ext cx="438912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75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30352" y="329184"/>
            <a:ext cx="11430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67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16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30352" y="594360"/>
            <a:ext cx="0" cy="347472"/>
          </a:xfrm>
          <a:prstGeom prst="line">
            <a:avLst/>
          </a:prstGeom>
          <a:noFill/>
          <a:ln w="27940">
            <a:solidFill>
              <a:srgbClr val="167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530352"/>
            <a:ext cx="777240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20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总结：让 AI Agent 可观测、可解释、可回放、可控制</a:t>
            </a:r>
            <a:endParaRPr lang="en-US" sz="2050" dirty="0"/>
          </a:p>
        </p:txBody>
      </p:sp>
      <p:sp>
        <p:nvSpPr>
          <p:cNvPr id="10" name="Text 8"/>
          <p:cNvSpPr/>
          <p:nvPr/>
        </p:nvSpPr>
        <p:spPr>
          <a:xfrm>
            <a:off x="685800" y="960120"/>
            <a:ext cx="75895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20" dirty="0">
                <a:solidFill>
                  <a:srgbClr val="6B7C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用公开数据说明刚需，用真实工程证明可行，用可复盘演示争取支持。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76656" y="1188720"/>
            <a:ext cx="2395728" cy="1078992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" y="1188720"/>
            <a:ext cx="45720" cy="1078992"/>
          </a:xfrm>
          <a:prstGeom prst="rect">
            <a:avLst/>
          </a:prstGeom>
          <a:solidFill>
            <a:srgbClr val="1677B8"/>
          </a:solidFill>
          <a:ln w="12700">
            <a:solidFill>
              <a:srgbClr val="1677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 1：真实需求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41248" y="1645920"/>
            <a:ext cx="2084832" cy="5303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Overflow、GitGuardian、IBM 数据说明 AI 开发工具普及、密钥泄露和治理缺口已经同时出现。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364992" y="1188720"/>
            <a:ext cx="2395728" cy="1078992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64992" y="1188720"/>
            <a:ext cx="45720" cy="1078992"/>
          </a:xfrm>
          <a:prstGeom prst="rect">
            <a:avLst/>
          </a:prstGeom>
          <a:solidFill>
            <a:srgbClr val="C74343"/>
          </a:solidFill>
          <a:ln w="12700">
            <a:solidFill>
              <a:srgbClr val="C743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9584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 2：真实风险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529584" y="1645920"/>
            <a:ext cx="2084832" cy="5303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EchoLeak、MCP Tool Poisoning、Copilot 信息泄露案例说明工具链和上下文边界已是攻击面。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53328" y="1188720"/>
            <a:ext cx="2395728" cy="1078992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3328" y="1188720"/>
            <a:ext cx="45720" cy="1078992"/>
          </a:xfrm>
          <a:prstGeom prst="rect">
            <a:avLst/>
          </a:prstGeom>
          <a:solidFill>
            <a:srgbClr val="23865F"/>
          </a:solidFill>
          <a:ln w="12700">
            <a:solidFill>
              <a:srgbClr val="2386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335024"/>
            <a:ext cx="210312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 3：真实原型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217920" y="1645920"/>
            <a:ext cx="2084832" cy="5303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0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+ BPF LSM/cgroup + hooks/wrapper + Execution Graph，形成可演示、可验证闭环。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804672" y="2688336"/>
            <a:ext cx="7534656" cy="438912"/>
          </a:xfrm>
          <a:prstGeom prst="roundRect">
            <a:avLst>
              <a:gd name="adj" fmla="val 4167"/>
            </a:avLst>
          </a:prstGeom>
          <a:solidFill>
            <a:srgbClr val="EDF5FB"/>
          </a:solidFill>
          <a:ln w="10160">
            <a:solidFill>
              <a:srgbClr val="E7EEF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2834640"/>
            <a:ext cx="7132320" cy="91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880" b="1" dirty="0">
                <a:solidFill>
                  <a:srgbClr val="102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需要支持：导师/学院资源、试点用户、软著/专利指导。目标：校赛晋级、省赛打磨、形成可转化产品。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804672" y="3429000"/>
            <a:ext cx="7534656" cy="6400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0160">
            <a:solidFill>
              <a:srgbClr val="D9E6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3584448"/>
            <a:ext cx="7168896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680" dirty="0">
                <a:solidFill>
                  <a:srgbClr val="243B5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主要来源：Stack Overflow Developer Survey 2025；GitGuardian State of Secrets Sprawl 2026；IBM Cost of a Data Breach Report 2025；OWASP Top 10 for LLM Applications / Agentic AI Threats；CSA M365 Copilot CVE-2026-24299 research note；NVD CVE-2025-32711。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834640" y="4352544"/>
            <a:ext cx="347472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1420" b="1" dirty="0">
                <a:solidFill>
                  <a:srgbClr val="167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谢谢各位老师，请批评指正</a:t>
            </a:r>
            <a:endParaRPr lang="en-US" sz="14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Agent eBPF Filter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eBPF Filter 项目答辩路演 PPT 浅色模板版</dc:title>
  <dc:subject>国创赛 2026 高教主赛道创意组路演</dc:subject>
  <dc:creator>Agent eBPF Filter</dc:creator>
  <cp:lastModifiedBy>Agent eBPF Filter</cp:lastModifiedBy>
  <cp:revision>1</cp:revision>
  <dcterms:created xsi:type="dcterms:W3CDTF">2026-05-26T06:45:39Z</dcterms:created>
  <dcterms:modified xsi:type="dcterms:W3CDTF">2026-05-26T06:45:39Z</dcterms:modified>
</cp:coreProperties>
</file>