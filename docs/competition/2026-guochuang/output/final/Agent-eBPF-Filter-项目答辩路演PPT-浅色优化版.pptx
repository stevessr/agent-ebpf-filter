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73152"/>
            <a:ext cx="2999232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tw_text_0001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tw_text_0002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tw_text_0003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tw_text_0004"/>
          <p:cNvSpPr/>
          <p:nvPr/>
        </p:nvSpPr>
        <p:spPr>
          <a:xfrm>
            <a:off x="603504" y="2816352"/>
            <a:ext cx="5285232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不是罗列更多功能，而是把一个关键问题做深：</a:t>
            </a:r>
            <a:endParaRPr lang="en-US" sz="10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的语义承诺，如何在操作系统事实里被验证和约束。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3504" y="3456432"/>
            <a:ext cx="117043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static_text_0005"/>
          <p:cNvSpPr/>
          <p:nvPr/>
        </p:nvSpPr>
        <p:spPr>
          <a:xfrm>
            <a:off x="658368" y="352501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内核事实采集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01952" y="3456432"/>
            <a:ext cx="162763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tw_text_0006"/>
          <p:cNvSpPr/>
          <p:nvPr/>
        </p:nvSpPr>
        <p:spPr>
          <a:xfrm>
            <a:off x="1956816" y="3525012"/>
            <a:ext cx="15179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LSM/cgroup 前置阻断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75888" y="3456432"/>
            <a:ext cx="1481328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static_text_0007"/>
          <p:cNvSpPr/>
          <p:nvPr/>
        </p:nvSpPr>
        <p:spPr>
          <a:xfrm>
            <a:off x="3730752" y="3525012"/>
            <a:ext cx="13716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语义-事实一致性</a:t>
            </a:r>
            <a:endParaRPr lang="en-US" sz="750" dirty="0"/>
          </a:p>
        </p:txBody>
      </p:sp>
      <p:sp>
        <p:nvSpPr>
          <p:cNvPr id="17" name="tw_text_0008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tw_text_0009"/>
          <p:cNvSpPr/>
          <p:nvPr/>
        </p:nvSpPr>
        <p:spPr>
          <a:xfrm>
            <a:off x="3968496" y="4599432"/>
            <a:ext cx="1828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技术深度与应用前景版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47104" y="640080"/>
            <a:ext cx="2139696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tatic_text_0010"/>
          <p:cNvSpPr/>
          <p:nvPr/>
        </p:nvSpPr>
        <p:spPr>
          <a:xfrm>
            <a:off x="6748272" y="822960"/>
            <a:ext cx="17373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</a:t>
            </a:r>
            <a:endParaRPr lang="en-US" sz="1200" dirty="0"/>
          </a:p>
        </p:txBody>
      </p:sp>
      <p:sp>
        <p:nvSpPr>
          <p:cNvPr id="21" name="tw_text_0011"/>
          <p:cNvSpPr/>
          <p:nvPr/>
        </p:nvSpPr>
        <p:spPr>
          <a:xfrm>
            <a:off x="6711696" y="1115568"/>
            <a:ext cx="1810512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从“看得到”升级到“拦得住、讲得清、能落地”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547104" y="1847088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static_text_0012"/>
          <p:cNvSpPr/>
          <p:nvPr/>
        </p:nvSpPr>
        <p:spPr>
          <a:xfrm>
            <a:off x="6665976" y="1938528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层</a:t>
            </a:r>
            <a:endParaRPr lang="en-US" sz="1750" dirty="0"/>
          </a:p>
        </p:txBody>
      </p:sp>
      <p:sp>
        <p:nvSpPr>
          <p:cNvPr id="24" name="tw_text_0013"/>
          <p:cNvSpPr/>
          <p:nvPr/>
        </p:nvSpPr>
        <p:spPr>
          <a:xfrm>
            <a:off x="6665976" y="2231136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采集、归因、判定、阻断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47104" y="2706624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tatic_text_0014"/>
          <p:cNvSpPr/>
          <p:nvPr/>
        </p:nvSpPr>
        <p:spPr>
          <a:xfrm>
            <a:off x="6665976" y="2798064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类</a:t>
            </a:r>
            <a:endParaRPr lang="en-US" sz="1750" dirty="0"/>
          </a:p>
        </p:txBody>
      </p:sp>
      <p:sp>
        <p:nvSpPr>
          <p:cNvPr id="27" name="tw_text_0015"/>
          <p:cNvSpPr/>
          <p:nvPr/>
        </p:nvSpPr>
        <p:spPr>
          <a:xfrm>
            <a:off x="6665976" y="3090672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高校/团队/企业落地场景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47104" y="3566160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tatic_text_0016"/>
          <p:cNvSpPr/>
          <p:nvPr/>
        </p:nvSpPr>
        <p:spPr>
          <a:xfrm>
            <a:off x="6665976" y="3657600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条</a:t>
            </a:r>
            <a:endParaRPr lang="en-US" sz="1750" dirty="0"/>
          </a:p>
        </p:txBody>
      </p:sp>
      <p:sp>
        <p:nvSpPr>
          <p:cNvPr id="30" name="tw_text_0017"/>
          <p:cNvSpPr/>
          <p:nvPr/>
        </p:nvSpPr>
        <p:spPr>
          <a:xfrm>
            <a:off x="6665976" y="3950208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 Agent 证据链</a:t>
            </a:r>
            <a:endParaRPr lang="en-US" sz="69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90"/>
                      </p:stCondLst>
                      <p:childTnLst>
                        <p:par>
                          <p:cTn id="2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8" dur="8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1" dur="92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90"/>
                      </p:stCondLst>
                      <p:childTnLst>
                        <p:par>
                          <p:cTn id="3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4" dur="97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8" grpId="0" build="p"/>
      <p:bldP spid="9" grpId="0" build="p"/>
      <p:bldP spid="10" grpId="0" build="p"/>
      <p:bldP spid="14" grpId="0" build="p"/>
      <p:bldP spid="17" grpId="0" build="p"/>
      <p:bldP spid="18" grpId="0" build="p"/>
      <p:bldP spid="21" grpId="0" build="p"/>
      <p:bldP spid="24" grpId="0" build="p"/>
      <p:bldP spid="27" grpId="0" build="p"/>
      <p:bldP spid="30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1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static_text_001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2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路演结构：少讲技术广度，深讲一条闭环</a:t>
            </a:r>
            <a:endParaRPr lang="en-US" sz="2050" dirty="0"/>
          </a:p>
        </p:txBody>
      </p:sp>
      <p:sp>
        <p:nvSpPr>
          <p:cNvPr id="10" name="tw_text_002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前半段证明为什么必须做，主体部分讲清技术深水区，后半段说明能在哪些场景形成价值。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389888"/>
            <a:ext cx="0" cy="268833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188720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static_text_0022"/>
          <p:cNvSpPr/>
          <p:nvPr/>
        </p:nvSpPr>
        <p:spPr>
          <a:xfrm>
            <a:off x="786384" y="130759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static_text_0023"/>
          <p:cNvSpPr/>
          <p:nvPr/>
        </p:nvSpPr>
        <p:spPr>
          <a:xfrm>
            <a:off x="1335024" y="1170432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为什么是刚需</a:t>
            </a:r>
            <a:endParaRPr lang="en-US" sz="1180" dirty="0"/>
          </a:p>
        </p:txBody>
      </p:sp>
      <p:sp>
        <p:nvSpPr>
          <p:cNvPr id="15" name="tw_text_0024"/>
          <p:cNvSpPr/>
          <p:nvPr/>
        </p:nvSpPr>
        <p:spPr>
          <a:xfrm>
            <a:off x="2980944" y="1188720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使用率、密钥泄露和 Copilot/MCP 案例说明运行时边界已经成为现实问题。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786384" y="1810512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static_text_0025"/>
          <p:cNvSpPr/>
          <p:nvPr/>
        </p:nvSpPr>
        <p:spPr>
          <a:xfrm>
            <a:off x="786384" y="192938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static_text_0026"/>
          <p:cNvSpPr/>
          <p:nvPr/>
        </p:nvSpPr>
        <p:spPr>
          <a:xfrm>
            <a:off x="1335024" y="1792224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深水区一：内核事实</a:t>
            </a:r>
            <a:endParaRPr lang="en-US" sz="1180" dirty="0"/>
          </a:p>
        </p:txBody>
      </p:sp>
      <p:sp>
        <p:nvSpPr>
          <p:cNvPr id="19" name="tw_text_0027"/>
          <p:cNvSpPr/>
          <p:nvPr/>
        </p:nvSpPr>
        <p:spPr>
          <a:xfrm>
            <a:off x="2980944" y="1810512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 exec/file/net/fork 采集、ringbuf、map、上下文字段，而不是泛泛讲“监控”。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786384" y="2432304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static_text_0028"/>
          <p:cNvSpPr/>
          <p:nvPr/>
        </p:nvSpPr>
        <p:spPr>
          <a:xfrm>
            <a:off x="786384" y="255117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static_text_0029"/>
          <p:cNvSpPr/>
          <p:nvPr/>
        </p:nvSpPr>
        <p:spPr>
          <a:xfrm>
            <a:off x="1335024" y="2414016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深水区二：前置阻断</a:t>
            </a:r>
            <a:endParaRPr lang="en-US" sz="1180" dirty="0"/>
          </a:p>
        </p:txBody>
      </p:sp>
      <p:sp>
        <p:nvSpPr>
          <p:cNvPr id="23" name="tw_text_0030"/>
          <p:cNvSpPr/>
          <p:nvPr/>
        </p:nvSpPr>
        <p:spPr>
          <a:xfrm>
            <a:off x="2980944" y="2432304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和 cgroup 把策略放到危险动作发生前，形成确定性拒绝证据。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86384" y="305409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static_text_0031"/>
          <p:cNvSpPr/>
          <p:nvPr/>
        </p:nvSpPr>
        <p:spPr>
          <a:xfrm>
            <a:off x="786384" y="317296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static_text_0032"/>
          <p:cNvSpPr/>
          <p:nvPr/>
        </p:nvSpPr>
        <p:spPr>
          <a:xfrm>
            <a:off x="1335024" y="3035808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深水区三：语义归因</a:t>
            </a:r>
            <a:endParaRPr lang="en-US" sz="1180" dirty="0"/>
          </a:p>
        </p:txBody>
      </p:sp>
      <p:sp>
        <p:nvSpPr>
          <p:cNvPr id="27" name="tw_text_0033"/>
          <p:cNvSpPr/>
          <p:nvPr/>
        </p:nvSpPr>
        <p:spPr>
          <a:xfrm>
            <a:off x="2980944" y="3054096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run/task/tool_call 与 PID、PPID、cwd、cgroup、路径、网络端点连成证据链。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86384" y="3675888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static_text_0034"/>
          <p:cNvSpPr/>
          <p:nvPr/>
        </p:nvSpPr>
        <p:spPr>
          <a:xfrm>
            <a:off x="786384" y="379476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static_text_0035"/>
          <p:cNvSpPr/>
          <p:nvPr/>
        </p:nvSpPr>
        <p:spPr>
          <a:xfrm>
            <a:off x="1335024" y="3657600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1180" dirty="0"/>
          </a:p>
        </p:txBody>
      </p:sp>
      <p:sp>
        <p:nvSpPr>
          <p:cNvPr id="31" name="tw_text_0036"/>
          <p:cNvSpPr/>
          <p:nvPr/>
        </p:nvSpPr>
        <p:spPr>
          <a:xfrm>
            <a:off x="2980944" y="3675888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团队、企业私有化和教育服务，分别给出落地价值。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749808" y="4352544"/>
            <a:ext cx="781812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w_text_0037"/>
          <p:cNvSpPr/>
          <p:nvPr/>
        </p:nvSpPr>
        <p:spPr>
          <a:xfrm>
            <a:off x="932688" y="4448556"/>
            <a:ext cx="7452360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答辩策略：避免“我们还做了 X/Y/Z”的横向铺陈，改为反复回答“为什么这个内核闭环难、为什么能落地”。</a:t>
            </a:r>
            <a:endParaRPr lang="en-US" sz="79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5" grpId="0" build="p"/>
      <p:bldP spid="19" grpId="0" build="p"/>
      <p:bldP spid="23" grpId="0" build="p"/>
      <p:bldP spid="27" grpId="0" build="p"/>
      <p:bldP spid="31" grpId="0" build="p"/>
      <p:bldP spid="3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3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static_text_003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4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数据证据：Agent 普及越快，运行时事实越稀缺</a:t>
            </a:r>
            <a:endParaRPr lang="en-US" sz="2050" dirty="0"/>
          </a:p>
        </p:txBody>
      </p:sp>
      <p:sp>
        <p:nvSpPr>
          <p:cNvPr id="10" name="tw_text_004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公开调研和安全报告共同指向同一个缺口：AI 工具进入执行链，但审计和控制仍停留在外围。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042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tw_text_0043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 2025：正在使用或计划使用 AI 开发工具 [1]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static_text_0044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tw_text_0045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2026：2025 年 public GitHub 新增硬编码密钥 [2]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static_text_004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tw_text_004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2025：全球平均数据泄露成本 [3]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tatic_text_0048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tw_text_0049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2025：AI 相关事件组织缺少适当访问控制 [3]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050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tw_text_0051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2026：公开 MCP 配置中暴露的唯一密钥 [2]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tw_text_0052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采用率提升不是重点，重点是 Agent 已经开始触发终端、文件和网络行为。安全边界必须落到运行时 [1]。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tw_text_0053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软件生产提速后，密钥、依赖脚本、MCP 配置的扩散速度也变快；只看 prompt 已经不够 [2]。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static_text_0054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Developer Survey 2025；[2] GitGuardian State of Secrets Sprawl 2026；[3] IBM Cost of a Data Breach Report 2025。详见参考文献页。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90"/>
                      </p:stCondLst>
                      <p:childTnLst>
                        <p:par>
                          <p:cTn id="2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8" dur="88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3" grpId="0" build="p"/>
      <p:bldP spid="16" grpId="0" build="p"/>
      <p:bldP spid="19" grpId="0" build="p"/>
      <p:bldP spid="22" grpId="0" build="p"/>
      <p:bldP spid="25" grpId="0" build="p"/>
      <p:bldP spid="29" grpId="0" build="p"/>
      <p:bldP spid="3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5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static_text_005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5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真实案例：风险不是模型幻觉，而是执行链越界</a:t>
            </a:r>
            <a:endParaRPr lang="en-US" sz="2050" dirty="0"/>
          </a:p>
        </p:txBody>
      </p:sp>
      <p:sp>
        <p:nvSpPr>
          <p:cNvPr id="10" name="tw_text_005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报告截图保留为外部证据，但结论聚焦到一个工程问题：如何把越界行为在 OS 层归因和拦截。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tw_text_0059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上下文越权 [5][6]</a:t>
            </a:r>
            <a:endParaRPr lang="en-US" sz="1130" dirty="0"/>
          </a:p>
        </p:txBody>
      </p:sp>
      <p:sp>
        <p:nvSpPr>
          <p:cNvPr id="15" name="tw_text_0060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/ EchoLeak 类案例说明：外部输入可能触发内部知识检索或数据泄露，风险发生在工具链边界。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tw_text_0061"/>
          <p:cNvSpPr/>
          <p:nvPr/>
        </p:nvSpPr>
        <p:spPr>
          <a:xfrm>
            <a:off x="786384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tw_text_0062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配置即攻击面 [2]</a:t>
            </a:r>
            <a:endParaRPr lang="en-US" sz="1130" dirty="0"/>
          </a:p>
        </p:txBody>
      </p:sp>
      <p:sp>
        <p:nvSpPr>
          <p:cNvPr id="22" name="tw_text_0063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配置中的有效密钥进入公共仓库，说明 Agent 生态的本机配置、工具描述和凭据都需要治理。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tw_text_0064"/>
          <p:cNvSpPr/>
          <p:nvPr/>
        </p:nvSpPr>
        <p:spPr>
          <a:xfrm>
            <a:off x="3602736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static_text_0065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 [4]</a:t>
            </a:r>
            <a:endParaRPr lang="en-US" sz="1130" dirty="0"/>
          </a:p>
        </p:txBody>
      </p:sp>
      <p:sp>
        <p:nvSpPr>
          <p:cNvPr id="29" name="tw_text_0066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 tool misuse、excessive agency、untraceability 列为重点，正对应本项目的运行时证据链。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tw_text_0067"/>
          <p:cNvSpPr/>
          <p:nvPr/>
        </p:nvSpPr>
        <p:spPr>
          <a:xfrm>
            <a:off x="6419088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static_text_006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2026；[4] OWASP LLM/Agentic AI Threats；[5] CSA Copilot research note；[6] NVD CVE-2025-32711。详见参考文献页。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90"/>
                      </p:stCondLst>
                      <p:childTnLst>
                        <p:par>
                          <p:cTn id="2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8" dur="88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1" dur="925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5" grpId="0" build="p"/>
      <p:bldP spid="17" grpId="0" build="p"/>
      <p:bldP spid="21" grpId="0" build="p"/>
      <p:bldP spid="22" grpId="0" build="p"/>
      <p:bldP spid="24" grpId="0" build="p"/>
      <p:bldP spid="29" grpId="0" build="p"/>
      <p:bldP spid="3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6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static_text_007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7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核心问题：不是“多做几个监控项”，而是补上证据链断点</a:t>
            </a:r>
            <a:endParaRPr lang="en-US" sz="2050" dirty="0"/>
          </a:p>
        </p:txBody>
      </p:sp>
      <p:sp>
        <p:nvSpPr>
          <p:cNvPr id="10" name="tw_text_007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技术深度集中在一个闭环：Agent 声称要做什么、系统实际做了什么、危险动作是否被前置拦截。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4942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73"/>
          <p:cNvSpPr/>
          <p:nvPr/>
        </p:nvSpPr>
        <p:spPr>
          <a:xfrm>
            <a:off x="822960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断点一：意图到进程</a:t>
            </a:r>
            <a:endParaRPr lang="en-US" sz="1100" dirty="0"/>
          </a:p>
        </p:txBody>
      </p:sp>
      <p:sp>
        <p:nvSpPr>
          <p:cNvPr id="14" name="tw_text_0074"/>
          <p:cNvSpPr/>
          <p:nvPr/>
        </p:nvSpPr>
        <p:spPr>
          <a:xfrm>
            <a:off x="822960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 run/task/tool_call 通常进入 shell，再派生 python/node/git/npm/curl。传统日志看到 PID，却丢失了意图来源。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4942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static_text_0075"/>
          <p:cNvSpPr/>
          <p:nvPr/>
        </p:nvSpPr>
        <p:spPr>
          <a:xfrm>
            <a:off x="3511296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断点二：进程到资源</a:t>
            </a:r>
            <a:endParaRPr lang="en-US" sz="1100" dirty="0"/>
          </a:p>
        </p:txBody>
      </p:sp>
      <p:sp>
        <p:nvSpPr>
          <p:cNvPr id="18" name="tw_text_0076"/>
          <p:cNvSpPr/>
          <p:nvPr/>
        </p:nvSpPr>
        <p:spPr>
          <a:xfrm>
            <a:off x="3511296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危险行为落在 open/connect/sendmsg/rename 等 OS 事件上，必须记录路径、端点、cwd、cgroup 和父子关系。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49424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077"/>
          <p:cNvSpPr/>
          <p:nvPr/>
        </p:nvSpPr>
        <p:spPr>
          <a:xfrm>
            <a:off x="6199632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断点三：告警到阻断</a:t>
            </a:r>
            <a:endParaRPr lang="en-US" sz="1100" dirty="0"/>
          </a:p>
        </p:txBody>
      </p:sp>
      <p:sp>
        <p:nvSpPr>
          <p:cNvPr id="22" name="tw_text_0078"/>
          <p:cNvSpPr/>
          <p:nvPr/>
        </p:nvSpPr>
        <p:spPr>
          <a:xfrm>
            <a:off x="6199632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事后告警无法证明动作没有发生。对高风险路径和外联，需要在 LSM/cgroup 决策点返回拒绝。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w_text_0079"/>
          <p:cNvSpPr/>
          <p:nvPr/>
        </p:nvSpPr>
        <p:spPr>
          <a:xfrm>
            <a:off x="1024128" y="4059936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因此本项目不追求“覆盖所有安全功能”，而是把 Agent 运行时安全最难的一段——语义归因 + 内核事实 + 前置阻断——做深。</a:t>
            </a:r>
            <a:endParaRPr lang="en-US" sz="8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80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static_text_0081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82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总体架构：四层闭环，每层只解决一个深问题</a:t>
            </a:r>
            <a:endParaRPr lang="en-US" sz="2050" dirty="0"/>
          </a:p>
        </p:txBody>
      </p:sp>
      <p:sp>
        <p:nvSpPr>
          <p:cNvPr id="10" name="tw_text_0083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从语义入口到内核决策再到证据回放，架构强调深度链路而不是横向功能堆叠。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68096" y="1298448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1298448"/>
            <a:ext cx="73152" cy="45720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84"/>
          <p:cNvSpPr/>
          <p:nvPr/>
        </p:nvSpPr>
        <p:spPr>
          <a:xfrm>
            <a:off x="1024128" y="1444752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语义入口</a:t>
            </a:r>
            <a:endParaRPr lang="en-US" sz="940" dirty="0"/>
          </a:p>
        </p:txBody>
      </p:sp>
      <p:sp>
        <p:nvSpPr>
          <p:cNvPr id="14" name="tw_text_0085"/>
          <p:cNvSpPr/>
          <p:nvPr/>
        </p:nvSpPr>
        <p:spPr>
          <a:xfrm>
            <a:off x="2267712" y="1444752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 捕获 run、task、tool_call、intent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0" y="1773936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8096" y="1920240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1920240"/>
            <a:ext cx="73152" cy="45720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8" name="static_text_0086"/>
          <p:cNvSpPr/>
          <p:nvPr/>
        </p:nvSpPr>
        <p:spPr>
          <a:xfrm>
            <a:off x="1024128" y="2066544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</a:t>
            </a:r>
            <a:endParaRPr lang="en-US" sz="940" dirty="0"/>
          </a:p>
        </p:txBody>
      </p:sp>
      <p:sp>
        <p:nvSpPr>
          <p:cNvPr id="19" name="tw_text_0087"/>
          <p:cNvSpPr/>
          <p:nvPr/>
        </p:nvSpPr>
        <p:spPr>
          <a:xfrm>
            <a:off x="2267712" y="2066544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 随 PID、PPID、cgroup 传播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2395728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8096" y="2542032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542032"/>
            <a:ext cx="73152" cy="45720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3" name="static_text_0088"/>
          <p:cNvSpPr/>
          <p:nvPr/>
        </p:nvSpPr>
        <p:spPr>
          <a:xfrm>
            <a:off x="1024128" y="2688336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940" dirty="0"/>
          </a:p>
        </p:txBody>
      </p:sp>
      <p:sp>
        <p:nvSpPr>
          <p:cNvPr id="24" name="tw_text_0089"/>
          <p:cNvSpPr/>
          <p:nvPr/>
        </p:nvSpPr>
        <p:spPr>
          <a:xfrm>
            <a:off x="2267712" y="2688336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 exec、file、net、fork，形成不可伪造的 OS 行为证据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8096" y="3163824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3163824"/>
            <a:ext cx="73152" cy="45720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8" name="static_text_0090"/>
          <p:cNvSpPr/>
          <p:nvPr/>
        </p:nvSpPr>
        <p:spPr>
          <a:xfrm>
            <a:off x="1024128" y="3310128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前置处置</a:t>
            </a:r>
            <a:endParaRPr lang="en-US" sz="940" dirty="0"/>
          </a:p>
        </p:txBody>
      </p:sp>
      <p:sp>
        <p:nvSpPr>
          <p:cNvPr id="29" name="tw_text_0091"/>
          <p:cNvSpPr/>
          <p:nvPr/>
        </p:nvSpPr>
        <p:spPr>
          <a:xfrm>
            <a:off x="2267712" y="3310128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与 cgroup 在动作发生前做 ALLOW / ALERT / BLOCK / REWRITE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7168896" cy="310896"/>
          </a:xfrm>
          <a:prstGeom prst="roundRect">
            <a:avLst>
              <a:gd name="adj" fmla="val 5882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1" name="tw_text_0092"/>
          <p:cNvSpPr/>
          <p:nvPr/>
        </p:nvSpPr>
        <p:spPr>
          <a:xfrm>
            <a:off x="1170432" y="4288536"/>
            <a:ext cx="680313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可答辩表达：我们不是做一个“安全看板”，而是把 Agent 意图和内核事实接成一条可验证、可阻断、可回放的闭环。</a:t>
            </a:r>
            <a:endParaRPr lang="en-US" sz="77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9" grpId="0" build="p"/>
      <p:bldP spid="24" grpId="0" build="p"/>
      <p:bldP spid="29" grpId="0" build="p"/>
      <p:bldP spid="3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09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static_text_009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09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技术深水区一：eBPF 事实采集不是日志替代，而是可信证据底座</a:t>
            </a:r>
            <a:endParaRPr lang="en-US" sz="2050" dirty="0"/>
          </a:p>
        </p:txBody>
      </p:sp>
      <p:sp>
        <p:nvSpPr>
          <p:cNvPr id="10" name="tw_text_009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重点解释为什么选 eBPF：低侵入、内核态事件源、可关联进程树和资源对象。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25296"/>
            <a:ext cx="45720" cy="21579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097"/>
          <p:cNvSpPr/>
          <p:nvPr/>
        </p:nvSpPr>
        <p:spPr>
          <a:xfrm>
            <a:off x="804672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采集点</a:t>
            </a:r>
            <a:endParaRPr lang="en-US" sz="1100" dirty="0"/>
          </a:p>
        </p:txBody>
      </p:sp>
      <p:sp>
        <p:nvSpPr>
          <p:cNvPr id="14" name="tw_text_0098"/>
          <p:cNvSpPr/>
          <p:nvPr/>
        </p:nvSpPr>
        <p:spPr>
          <a:xfrm>
            <a:off x="804672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execve / openat / connect / sendto / recvfrom / bind / unlink / mkdir / ioctl 等关键 syscall 与网络路径。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145536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5536" y="1225296"/>
            <a:ext cx="45720" cy="215798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099"/>
          <p:cNvSpPr/>
          <p:nvPr/>
        </p:nvSpPr>
        <p:spPr>
          <a:xfrm>
            <a:off x="3310128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数据路径</a:t>
            </a:r>
            <a:endParaRPr lang="en-US" sz="1100" dirty="0"/>
          </a:p>
        </p:txBody>
      </p:sp>
      <p:sp>
        <p:nvSpPr>
          <p:cNvPr id="18" name="tw_text_0100"/>
          <p:cNvSpPr/>
          <p:nvPr/>
        </p:nvSpPr>
        <p:spPr>
          <a:xfrm>
            <a:off x="3310128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map 维护 Agent 进程、关注命令与关注路径；ringbuf 将事件送到用户态 runtime。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650992" y="1225296"/>
            <a:ext cx="283464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0992" y="1225296"/>
            <a:ext cx="45720" cy="2157984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1" name="static_text_0101"/>
          <p:cNvSpPr/>
          <p:nvPr/>
        </p:nvSpPr>
        <p:spPr>
          <a:xfrm>
            <a:off x="5815584" y="1371600"/>
            <a:ext cx="25420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证据字段</a:t>
            </a:r>
            <a:endParaRPr lang="en-US" sz="1100" dirty="0"/>
          </a:p>
        </p:txBody>
      </p:sp>
      <p:sp>
        <p:nvSpPr>
          <p:cNvPr id="22" name="tw_text_0102"/>
          <p:cNvSpPr/>
          <p:nvPr/>
        </p:nvSpPr>
        <p:spPr>
          <a:xfrm>
            <a:off x="5815584" y="1682496"/>
            <a:ext cx="252374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PID/TGID/PPID、comm、cwd、路径、网络端点、cgroup_id、时间戳、策略结果，统一进入 EventEnvelope。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749040"/>
            <a:ext cx="2834640" cy="566928"/>
          </a:xfrm>
          <a:prstGeom prst="roundRect">
            <a:avLst>
              <a:gd name="adj" fmla="val 32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4" name="tw_text_0103"/>
          <p:cNvSpPr/>
          <p:nvPr/>
        </p:nvSpPr>
        <p:spPr>
          <a:xfrm>
            <a:off x="941832" y="3849624"/>
            <a:ext cx="263347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内核事件采集模块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事件归一化与分发模块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运行时状态管理模块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证据信封模型模块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3931920" y="3730752"/>
            <a:ext cx="4279392" cy="60350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3730752"/>
            <a:ext cx="1353312" cy="60350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7" name="static_text_0104"/>
          <p:cNvSpPr/>
          <p:nvPr/>
        </p:nvSpPr>
        <p:spPr>
          <a:xfrm>
            <a:off x="4078224" y="397764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</a:t>
            </a:r>
            <a:endParaRPr lang="en-US" sz="800" dirty="0"/>
          </a:p>
        </p:txBody>
      </p:sp>
      <p:sp>
        <p:nvSpPr>
          <p:cNvPr id="28" name="tw_text_0105"/>
          <p:cNvSpPr/>
          <p:nvPr/>
        </p:nvSpPr>
        <p:spPr>
          <a:xfrm>
            <a:off x="5486400" y="3849624"/>
            <a:ext cx="254203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既要拿到足够细的事实字段，又不能把每个 syscall 都变成高开销日志；未来可扩展为可配置采集策略和行业模板。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4" grpId="0" build="p"/>
      <p:bldP spid="28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06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static_text_0107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08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技术深水区二：BPF LSM + cgroup 把安全决策前置到内核路径</a:t>
            </a:r>
            <a:endParaRPr lang="en-US" sz="2050" dirty="0"/>
          </a:p>
        </p:txBody>
      </p:sp>
      <p:sp>
        <p:nvSpPr>
          <p:cNvPr id="10" name="tw_text_0109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真正的亮点不是“发现风险”，而是在危险动作发生前给出确定性拒绝。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12848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static_text_0110"/>
          <p:cNvSpPr/>
          <p:nvPr/>
        </p:nvSpPr>
        <p:spPr>
          <a:xfrm>
            <a:off x="822960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文件/执行</a:t>
            </a:r>
            <a:endParaRPr lang="en-US" sz="1100" dirty="0"/>
          </a:p>
        </p:txBody>
      </p:sp>
      <p:sp>
        <p:nvSpPr>
          <p:cNvPr id="14" name="tw_text_0111"/>
          <p:cNvSpPr/>
          <p:nvPr/>
        </p:nvSpPr>
        <p:spPr>
          <a:xfrm>
            <a:off x="822960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bprm_check_security、file_open、file_permission、inode_*：在执行、读写、创建、删除、重命名前判断策略。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12848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static_text_0112"/>
          <p:cNvSpPr/>
          <p:nvPr/>
        </p:nvSpPr>
        <p:spPr>
          <a:xfrm>
            <a:off x="3511296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网络外联</a:t>
            </a:r>
            <a:endParaRPr lang="en-US" sz="1100" dirty="0"/>
          </a:p>
        </p:txBody>
      </p:sp>
      <p:sp>
        <p:nvSpPr>
          <p:cNvPr id="18" name="tw_text_0113"/>
          <p:cNvSpPr/>
          <p:nvPr/>
        </p:nvSpPr>
        <p:spPr>
          <a:xfrm>
            <a:off x="3511296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connect4/connect6、sendmsg4/sendmsg6：按 cgroup、IP、IPv6、端口对 TCP/UDP 外联做前置约束。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1284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114"/>
          <p:cNvSpPr/>
          <p:nvPr/>
        </p:nvSpPr>
        <p:spPr>
          <a:xfrm>
            <a:off x="6199632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决策原则</a:t>
            </a:r>
            <a:endParaRPr lang="en-US" sz="1100" dirty="0"/>
          </a:p>
        </p:txBody>
      </p:sp>
      <p:sp>
        <p:nvSpPr>
          <p:cNvPr id="22" name="tw_text_0115"/>
          <p:cNvSpPr/>
          <p:nvPr/>
        </p:nvSpPr>
        <p:spPr>
          <a:xfrm>
            <a:off x="6199632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内核态只做确定性 map lookup；ML/LLM 只输出建议，不直接进入内核阻断路径。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822192"/>
            <a:ext cx="7443216" cy="47548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3822192"/>
            <a:ext cx="1353312" cy="47548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static_text_0116"/>
          <p:cNvSpPr/>
          <p:nvPr/>
        </p:nvSpPr>
        <p:spPr>
          <a:xfrm>
            <a:off x="987552" y="400507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答辩亮点</a:t>
            </a:r>
            <a:endParaRPr lang="en-US" sz="800" dirty="0"/>
          </a:p>
        </p:txBody>
      </p:sp>
      <p:sp>
        <p:nvSpPr>
          <p:cNvPr id="26" name="tw_text_0117"/>
          <p:cNvSpPr/>
          <p:nvPr/>
        </p:nvSpPr>
        <p:spPr>
          <a:xfrm>
            <a:off x="2395728" y="3941064"/>
            <a:ext cx="57058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评委能听懂的差异：UI 标红只是提醒，LSM/cgroup 返回 -EACCES 或拒绝 connect 才是 OS 层真实拦截。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tw_text_011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工程证据：内核文件/执行策略模块；cgroup 网络策略模块；OS 阻断冒烟验证流程。未来可沉淀为多场景策略模板。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6" grpId="0" build="p"/>
      <p:bldP spid="28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1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static_text_012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2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技术深水区三：进程上下文继承解决 Agent 子进程“失踪”</a:t>
            </a:r>
            <a:endParaRPr lang="en-US" sz="2050" dirty="0"/>
          </a:p>
        </p:txBody>
      </p:sp>
      <p:sp>
        <p:nvSpPr>
          <p:cNvPr id="10" name="tw_text_012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真实风险常发生在 shell/python/node/git/npm/curl 子进程，必须把语义上下文随进程树传播。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static_text_0123"/>
          <p:cNvSpPr/>
          <p:nvPr/>
        </p:nvSpPr>
        <p:spPr>
          <a:xfrm>
            <a:off x="76809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1719072" y="1664208"/>
            <a:ext cx="18288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510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static_text_0124"/>
          <p:cNvSpPr/>
          <p:nvPr/>
        </p:nvSpPr>
        <p:spPr>
          <a:xfrm>
            <a:off x="202996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2980944" y="1664208"/>
            <a:ext cx="20116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5526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static_text_0125"/>
          <p:cNvSpPr/>
          <p:nvPr/>
        </p:nvSpPr>
        <p:spPr>
          <a:xfrm>
            <a:off x="331012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/bin/sh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16459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9884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tw_text_0126"/>
          <p:cNvSpPr/>
          <p:nvPr/>
        </p:nvSpPr>
        <p:spPr>
          <a:xfrm>
            <a:off x="455371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5504688" y="1664208"/>
            <a:ext cx="34747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2531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static_text_0127"/>
          <p:cNvSpPr/>
          <p:nvPr/>
        </p:nvSpPr>
        <p:spPr>
          <a:xfrm>
            <a:off x="598017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6931152" y="1664208"/>
            <a:ext cx="14630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5060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static_text_0128"/>
          <p:cNvSpPr/>
          <p:nvPr/>
        </p:nvSpPr>
        <p:spPr>
          <a:xfrm>
            <a:off x="720547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749808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29" name="static_text_0129"/>
          <p:cNvSpPr/>
          <p:nvPr/>
        </p:nvSpPr>
        <p:spPr>
          <a:xfrm>
            <a:off x="877824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static_text_0130"/>
          <p:cNvSpPr/>
          <p:nvPr/>
        </p:nvSpPr>
        <p:spPr>
          <a:xfrm>
            <a:off x="1371600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000" dirty="0"/>
          </a:p>
        </p:txBody>
      </p:sp>
      <p:sp>
        <p:nvSpPr>
          <p:cNvPr id="31" name="tw_text_0131"/>
          <p:cNvSpPr/>
          <p:nvPr/>
        </p:nvSpPr>
        <p:spPr>
          <a:xfrm>
            <a:off x="932688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agent_run_id、task_id、tool_call_id、trace_id 从父 PID 或 cgroup 继承，避免只看到孤立子进程。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3383280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33" name="static_text_0132"/>
          <p:cNvSpPr/>
          <p:nvPr/>
        </p:nvSpPr>
        <p:spPr>
          <a:xfrm>
            <a:off x="3511296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static_text_0133"/>
          <p:cNvSpPr/>
          <p:nvPr/>
        </p:nvSpPr>
        <p:spPr>
          <a:xfrm>
            <a:off x="4005072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000" dirty="0"/>
          </a:p>
        </p:txBody>
      </p:sp>
      <p:sp>
        <p:nvSpPr>
          <p:cNvPr id="35" name="tw_text_0134"/>
          <p:cNvSpPr/>
          <p:nvPr/>
        </p:nvSpPr>
        <p:spPr>
          <a:xfrm>
            <a:off x="3566160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 记录真实执行链，支撑后续图谱回放。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016752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37" name="static_text_0135"/>
          <p:cNvSpPr/>
          <p:nvPr/>
        </p:nvSpPr>
        <p:spPr>
          <a:xfrm>
            <a:off x="6144768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static_text_0136"/>
          <p:cNvSpPr/>
          <p:nvPr/>
        </p:nvSpPr>
        <p:spPr>
          <a:xfrm>
            <a:off x="6638544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归因结果</a:t>
            </a:r>
            <a:endParaRPr lang="en-US" sz="1000" dirty="0"/>
          </a:p>
        </p:txBody>
      </p:sp>
      <p:sp>
        <p:nvSpPr>
          <p:cNvPr id="39" name="tw_text_0137"/>
          <p:cNvSpPr/>
          <p:nvPr/>
        </p:nvSpPr>
        <p:spPr>
          <a:xfrm>
            <a:off x="6199632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file/net/policy 事件归到具体 Agent run 和 tool call，而不是只归到 python 或 curl。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tw_text_013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工程证据：Agent 上下文继承模块；执行图谱模块；交互式会话管理模块。未来可扩展为跨 IDE、跨云端 Agent 的统一追踪层。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1" grpId="0" build="p"/>
      <p:bldP spid="31" grpId="0" build="p"/>
      <p:bldP spid="35" grpId="0" build="p"/>
      <p:bldP spid="39" grpId="0" build="p"/>
      <p:bldP spid="4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3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static_text_014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4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技术深水区四：语义-事实一致性，不靠模型猜测做最终裁决</a:t>
            </a:r>
            <a:endParaRPr lang="en-US" sz="2050" dirty="0"/>
          </a:p>
        </p:txBody>
      </p:sp>
      <p:sp>
        <p:nvSpPr>
          <p:cNvPr id="10" name="tw_text_014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LLM/规则负责解释和建议，让内核事实负责证据，让确定性策略负责阻断。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25296"/>
            <a:ext cx="45720" cy="217627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143"/>
          <p:cNvSpPr/>
          <p:nvPr/>
        </p:nvSpPr>
        <p:spPr>
          <a:xfrm>
            <a:off x="822960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00" dirty="0"/>
          </a:p>
        </p:txBody>
      </p:sp>
      <p:sp>
        <p:nvSpPr>
          <p:cNvPr id="14" name="tw_text_0144"/>
          <p:cNvSpPr/>
          <p:nvPr/>
        </p:nvSpPr>
        <p:spPr>
          <a:xfrm>
            <a:off x="822960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工具名、任务摘要、hook 元数据、wrapper 请求、只读/可写声明、预期访问范围。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99232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25296"/>
            <a:ext cx="45720" cy="217627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static_text_0145"/>
          <p:cNvSpPr/>
          <p:nvPr/>
        </p:nvSpPr>
        <p:spPr>
          <a:xfrm>
            <a:off x="3584448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00" dirty="0"/>
          </a:p>
        </p:txBody>
      </p:sp>
      <p:sp>
        <p:nvSpPr>
          <p:cNvPr id="19" name="tw_text_0146"/>
          <p:cNvSpPr/>
          <p:nvPr/>
        </p:nvSpPr>
        <p:spPr>
          <a:xfrm>
            <a:off x="3584448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exec/open/connect/send、路径、端点、进程树、cgroup、LSM/cgroup 决策。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760720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25296"/>
            <a:ext cx="45720" cy="217627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static_text_0147"/>
          <p:cNvSpPr/>
          <p:nvPr/>
        </p:nvSpPr>
        <p:spPr>
          <a:xfrm>
            <a:off x="6345936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输出结果</a:t>
            </a:r>
            <a:endParaRPr lang="en-US" sz="1100" dirty="0"/>
          </a:p>
        </p:txBody>
      </p:sp>
      <p:sp>
        <p:nvSpPr>
          <p:cNvPr id="24" name="tw_text_0148"/>
          <p:cNvSpPr/>
          <p:nvPr/>
        </p:nvSpPr>
        <p:spPr>
          <a:xfrm>
            <a:off x="6345936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SECRET_ACCESS、UNEXPECTED_NETWORK_EGRESS、WORKSPACE_ESCAPE、TOKEN_EXFIL_RISK。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877824" y="3730752"/>
            <a:ext cx="7388352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3730752"/>
            <a:ext cx="1353312" cy="53035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7" name="static_text_0149"/>
          <p:cNvSpPr/>
          <p:nvPr/>
        </p:nvSpPr>
        <p:spPr>
          <a:xfrm>
            <a:off x="1024128" y="39410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800" dirty="0"/>
          </a:p>
        </p:txBody>
      </p:sp>
      <p:sp>
        <p:nvSpPr>
          <p:cNvPr id="28" name="tw_text_0150"/>
          <p:cNvSpPr/>
          <p:nvPr/>
        </p:nvSpPr>
        <p:spPr>
          <a:xfrm>
            <a:off x="2432304" y="3849624"/>
            <a:ext cx="56509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模型可以辅助解释风险，但不能直接下发不可解释的内核阻断；真正拦截由认证策略和确定性 map 决策完成。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0" name="tw_text_015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工程证据：语义风险检测模块；事件信封模型；执行图谱；命令策略代理。未来可扩展为组织级 Agent 安全策略中心。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9" grpId="0" build="p"/>
      <p:bldP spid="24" grpId="0" build="p"/>
      <p:bldP spid="28" grpId="0" build="p"/>
      <p:bldP spid="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52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static_text_0153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54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工程深度：性能、权限和误报边界必须讲清楚</a:t>
            </a:r>
            <a:endParaRPr lang="en-US" sz="2050" dirty="0"/>
          </a:p>
        </p:txBody>
      </p:sp>
      <p:sp>
        <p:nvSpPr>
          <p:cNvPr id="10" name="tw_text_0155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高权限安全工具不能只展示能力，还要说明开销、权限、误报和隐私边界如何控制。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225296"/>
            <a:ext cx="1353312" cy="5303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156"/>
          <p:cNvSpPr/>
          <p:nvPr/>
        </p:nvSpPr>
        <p:spPr>
          <a:xfrm>
            <a:off x="859536" y="143560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性能边界</a:t>
            </a:r>
            <a:endParaRPr lang="en-US" sz="800" dirty="0"/>
          </a:p>
        </p:txBody>
      </p:sp>
      <p:sp>
        <p:nvSpPr>
          <p:cNvPr id="14" name="tw_text_0157"/>
          <p:cNvSpPr/>
          <p:nvPr/>
        </p:nvSpPr>
        <p:spPr>
          <a:xfrm>
            <a:off x="2267712" y="1344168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只采关键 syscall 与网络路径；tracked_comm/path、agent_pids、cgroup 过滤降低噪声；ringbuf 异步上报避免阻塞正常路径。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13232" y="1901952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1353312" cy="5303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158"/>
          <p:cNvSpPr/>
          <p:nvPr/>
        </p:nvSpPr>
        <p:spPr>
          <a:xfrm>
            <a:off x="859536" y="21122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800" dirty="0"/>
          </a:p>
        </p:txBody>
      </p:sp>
      <p:sp>
        <p:nvSpPr>
          <p:cNvPr id="18" name="tw_text_0159"/>
          <p:cNvSpPr/>
          <p:nvPr/>
        </p:nvSpPr>
        <p:spPr>
          <a:xfrm>
            <a:off x="2267712" y="2020824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加载需要特权；配置 API 使用 token；shell 与策略变更有 runtime gate；TLS 明文捕获默认关闭。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1353312" cy="53035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160"/>
          <p:cNvSpPr/>
          <p:nvPr/>
        </p:nvSpPr>
        <p:spPr>
          <a:xfrm>
            <a:off x="859536" y="278892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误报边界</a:t>
            </a:r>
            <a:endParaRPr lang="en-US" sz="800" dirty="0"/>
          </a:p>
        </p:txBody>
      </p:sp>
      <p:sp>
        <p:nvSpPr>
          <p:cNvPr id="22" name="tw_text_0161"/>
          <p:cNvSpPr/>
          <p:nvPr/>
        </p:nvSpPr>
        <p:spPr>
          <a:xfrm>
            <a:off x="2267712" y="2697480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先观察后阻断；高风险路径默认告警，确认后进入 LSM/cgroup 阻断；ML/LLM 输出进入人工确认或策略模板。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713232" y="3255264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255264"/>
            <a:ext cx="1353312" cy="53035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static_text_0162"/>
          <p:cNvSpPr/>
          <p:nvPr/>
        </p:nvSpPr>
        <p:spPr>
          <a:xfrm>
            <a:off x="859536" y="346557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800" dirty="0"/>
          </a:p>
        </p:txBody>
      </p:sp>
      <p:sp>
        <p:nvSpPr>
          <p:cNvPr id="26" name="tw_text_0163"/>
          <p:cNvSpPr/>
          <p:nvPr/>
        </p:nvSpPr>
        <p:spPr>
          <a:xfrm>
            <a:off x="2267712" y="3374136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用于本地/授权环境；事件流以摘要、路径、端点、长度、角色为主；演示数据必须脱敏。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950976" y="4151376"/>
            <a:ext cx="7242048" cy="292608"/>
          </a:xfrm>
          <a:prstGeom prst="roundRect">
            <a:avLst>
              <a:gd name="adj" fmla="val 6250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w_text_0164"/>
          <p:cNvSpPr/>
          <p:nvPr/>
        </p:nvSpPr>
        <p:spPr>
          <a:xfrm>
            <a:off x="1133856" y="4247388"/>
            <a:ext cx="687628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这一页用于回应评委追问：能不能跑、会不会拖慢、权限是否过大、误报怎么处理。</a:t>
            </a:r>
            <a:endParaRPr lang="en-US" sz="77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6" grpId="0" build="p"/>
      <p:bldP spid="28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6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static_text_016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6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验证方式：用三类实验证明深度闭环，而不是只放 UI 截图</a:t>
            </a:r>
            <a:endParaRPr lang="en-US" sz="2050" dirty="0"/>
          </a:p>
        </p:txBody>
      </p:sp>
      <p:sp>
        <p:nvSpPr>
          <p:cNvPr id="10" name="tw_text_016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现场演示围绕“采集到、归因准、拦得住”三件事设计。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169"/>
          <p:cNvSpPr/>
          <p:nvPr/>
        </p:nvSpPr>
        <p:spPr>
          <a:xfrm>
            <a:off x="932688" y="1389888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A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719072" y="1335024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static_text_0170"/>
          <p:cNvSpPr/>
          <p:nvPr/>
        </p:nvSpPr>
        <p:spPr>
          <a:xfrm>
            <a:off x="1956816" y="1344168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敏感路径读取</a:t>
            </a:r>
            <a:endParaRPr lang="en-US" sz="960" dirty="0"/>
          </a:p>
        </p:txBody>
      </p:sp>
      <p:sp>
        <p:nvSpPr>
          <p:cNvPr id="15" name="tw_text_0171"/>
          <p:cNvSpPr/>
          <p:nvPr/>
        </p:nvSpPr>
        <p:spPr>
          <a:xfrm>
            <a:off x="3236976" y="1353312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声称只读项目文件，但子进程访问 .env / ssh key → SECRET_ACCESS + 任务归因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3232" y="190195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tatic_text_0172"/>
          <p:cNvSpPr/>
          <p:nvPr/>
        </p:nvSpPr>
        <p:spPr>
          <a:xfrm>
            <a:off x="932688" y="2066544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B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719072" y="201168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static_text_0173"/>
          <p:cNvSpPr/>
          <p:nvPr/>
        </p:nvSpPr>
        <p:spPr>
          <a:xfrm>
            <a:off x="1956816" y="2020824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960" dirty="0"/>
          </a:p>
        </p:txBody>
      </p:sp>
      <p:sp>
        <p:nvSpPr>
          <p:cNvPr id="20" name="tw_text_0174"/>
          <p:cNvSpPr/>
          <p:nvPr/>
        </p:nvSpPr>
        <p:spPr>
          <a:xfrm>
            <a:off x="3236976" y="2029968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curl/python 子进程连接未知 IP:port → UNEXPECTED_NETWORK_EGRESS，并关联到 tool_call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2578608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tatic_text_0175"/>
          <p:cNvSpPr/>
          <p:nvPr/>
        </p:nvSpPr>
        <p:spPr>
          <a:xfrm>
            <a:off x="932688" y="2743200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C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1719072" y="2688336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static_text_0176"/>
          <p:cNvSpPr/>
          <p:nvPr/>
        </p:nvSpPr>
        <p:spPr>
          <a:xfrm>
            <a:off x="1956816" y="2697480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前置阻断</a:t>
            </a:r>
            <a:endParaRPr lang="en-US" sz="960" dirty="0"/>
          </a:p>
        </p:txBody>
      </p:sp>
      <p:sp>
        <p:nvSpPr>
          <p:cNvPr id="25" name="tw_text_0177"/>
          <p:cNvSpPr/>
          <p:nvPr/>
        </p:nvSpPr>
        <p:spPr>
          <a:xfrm>
            <a:off x="3236976" y="2706624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LSM/cgroup 策略后返回 EACCES 或拒绝 connect/sendmsg，证据进入图谱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3232" y="325526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tatic_text_0178"/>
          <p:cNvSpPr/>
          <p:nvPr/>
        </p:nvSpPr>
        <p:spPr>
          <a:xfrm>
            <a:off x="932688" y="3419856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D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719072" y="3364992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static_text_0179"/>
          <p:cNvSpPr/>
          <p:nvPr/>
        </p:nvSpPr>
        <p:spPr>
          <a:xfrm>
            <a:off x="1956816" y="3374136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960" dirty="0"/>
          </a:p>
        </p:txBody>
      </p:sp>
      <p:sp>
        <p:nvSpPr>
          <p:cNvPr id="30" name="tw_text_0180"/>
          <p:cNvSpPr/>
          <p:nvPr/>
        </p:nvSpPr>
        <p:spPr>
          <a:xfrm>
            <a:off x="3236976" y="3383280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Policy，形成可提交证据链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14400" y="4169664"/>
            <a:ext cx="7315200" cy="34747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169664"/>
            <a:ext cx="1353312" cy="34747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3" name="static_text_0181"/>
          <p:cNvSpPr/>
          <p:nvPr/>
        </p:nvSpPr>
        <p:spPr>
          <a:xfrm>
            <a:off x="1060704" y="428853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</a:t>
            </a:r>
            <a:endParaRPr lang="en-US" sz="800" dirty="0"/>
          </a:p>
        </p:txBody>
      </p:sp>
      <p:sp>
        <p:nvSpPr>
          <p:cNvPr id="34" name="tw_text_0182"/>
          <p:cNvSpPr/>
          <p:nvPr/>
        </p:nvSpPr>
        <p:spPr>
          <a:xfrm>
            <a:off x="2468880" y="4288536"/>
            <a:ext cx="557784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检测率/阻断率、误报样例、平均事件延迟、CPU/内存开销、证据链完整率。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5" grpId="0" build="p"/>
      <p:bldP spid="20" grpId="0" build="p"/>
      <p:bldP spid="25" grpId="0" build="p"/>
      <p:bldP spid="30" grpId="0" build="p"/>
      <p:bldP spid="34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18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tatic_text_018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18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未来前景总览：从单机工具走向 Agent 安全基础设施</a:t>
            </a:r>
            <a:endParaRPr lang="en-US" sz="2050" dirty="0"/>
          </a:p>
        </p:txBody>
      </p:sp>
      <p:sp>
        <p:nvSpPr>
          <p:cNvPr id="10" name="tw_text_018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应用前景不再泛泛讲市场，而是把内核级证据链扩展成教育、团队、企业三类长期基础能力。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187"/>
          <p:cNvSpPr/>
          <p:nvPr/>
        </p:nvSpPr>
        <p:spPr>
          <a:xfrm>
            <a:off x="841248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25296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4" name="static_text_0188"/>
          <p:cNvSpPr/>
          <p:nvPr/>
        </p:nvSpPr>
        <p:spPr>
          <a:xfrm>
            <a:off x="1280160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教学/科研/竞赛</a:t>
            </a:r>
            <a:endParaRPr lang="en-US" sz="750" dirty="0"/>
          </a:p>
        </p:txBody>
      </p:sp>
      <p:sp>
        <p:nvSpPr>
          <p:cNvPr id="15" name="tw_text_0189"/>
          <p:cNvSpPr/>
          <p:nvPr/>
        </p:nvSpPr>
        <p:spPr>
          <a:xfrm>
            <a:off x="896112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沉淀为 AI 安全与系统安全实验平台，支撑课程、论文、软著、竞赛和校企联合实践。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59536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493008"/>
            <a:ext cx="1353312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static_text_0190"/>
          <p:cNvSpPr/>
          <p:nvPr/>
        </p:nvSpPr>
        <p:spPr>
          <a:xfrm>
            <a:off x="1005840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19" name="static_text_0191"/>
          <p:cNvSpPr/>
          <p:nvPr/>
        </p:nvSpPr>
        <p:spPr>
          <a:xfrm>
            <a:off x="2414016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成果转化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3328416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w_text_0192"/>
          <p:cNvSpPr/>
          <p:nvPr/>
        </p:nvSpPr>
        <p:spPr>
          <a:xfrm>
            <a:off x="3511296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895344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3" name="static_text_0193"/>
          <p:cNvSpPr/>
          <p:nvPr/>
        </p:nvSpPr>
        <p:spPr>
          <a:xfrm>
            <a:off x="3950208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开发治理</a:t>
            </a:r>
            <a:endParaRPr lang="en-US" sz="750" dirty="0"/>
          </a:p>
        </p:txBody>
      </p:sp>
      <p:sp>
        <p:nvSpPr>
          <p:cNvPr id="24" name="tw_text_0194"/>
          <p:cNvSpPr/>
          <p:nvPr/>
        </p:nvSpPr>
        <p:spPr>
          <a:xfrm>
            <a:off x="3566160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发展为团队级 Agent 安全工作台，持续管理敏感文件、依赖脚本、MCP 工具和异常外联。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529584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9584" y="3493008"/>
            <a:ext cx="1353312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7" name="static_text_0195"/>
          <p:cNvSpPr/>
          <p:nvPr/>
        </p:nvSpPr>
        <p:spPr>
          <a:xfrm>
            <a:off x="3675888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28" name="static_text_0196"/>
          <p:cNvSpPr/>
          <p:nvPr/>
        </p:nvSpPr>
        <p:spPr>
          <a:xfrm>
            <a:off x="5084064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降低事故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998464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static_text_0197"/>
          <p:cNvSpPr/>
          <p:nvPr/>
        </p:nvSpPr>
        <p:spPr>
          <a:xfrm>
            <a:off x="6181344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65392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FFF3E6"/>
          </a:solidFill>
          <a:ln w="10160">
            <a:solidFill>
              <a:srgbClr val="C66A1D">
                <a:alpha val="45000"/>
              </a:srgbClr>
            </a:solidFill>
            <a:prstDash val="solid"/>
          </a:ln>
        </p:spPr>
      </p:sp>
      <p:sp>
        <p:nvSpPr>
          <p:cNvPr id="32" name="static_text_0198"/>
          <p:cNvSpPr/>
          <p:nvPr/>
        </p:nvSpPr>
        <p:spPr>
          <a:xfrm>
            <a:off x="6620256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合规与私有化</a:t>
            </a:r>
            <a:endParaRPr lang="en-US" sz="750" dirty="0"/>
          </a:p>
        </p:txBody>
      </p:sp>
      <p:sp>
        <p:nvSpPr>
          <p:cNvPr id="33" name="tw_text_0199"/>
          <p:cNvSpPr/>
          <p:nvPr/>
        </p:nvSpPr>
        <p:spPr>
          <a:xfrm>
            <a:off x="6236208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演进为企业 Agent runtime security 基础设施，接入审计、SIEM/OTLP、策略审批和合规留存。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199632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493008"/>
            <a:ext cx="1353312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6" name="static_text_0200"/>
          <p:cNvSpPr/>
          <p:nvPr/>
        </p:nvSpPr>
        <p:spPr>
          <a:xfrm>
            <a:off x="6345936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37" name="static_text_0201"/>
          <p:cNvSpPr/>
          <p:nvPr/>
        </p:nvSpPr>
        <p:spPr>
          <a:xfrm>
            <a:off x="7754112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合规落地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9" name="static_text_0202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资料来源：[1] Stack Overflow 2025 AI adoption；[2] GitGuardian 2026 secrets sprawl；[3] IBM 2025 AI oversight gap。详见参考文献页。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5" grpId="0" build="p"/>
      <p:bldP spid="21" grpId="0" build="p"/>
      <p:bldP spid="24" grpId="0" build="p"/>
      <p:bldP spid="3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03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tatic_text_0204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205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应用前景一：高校实验室，从竞赛项目变成教学与科研平台</a:t>
            </a:r>
            <a:endParaRPr lang="en-US" sz="2050" dirty="0"/>
          </a:p>
        </p:txBody>
      </p:sp>
      <p:sp>
        <p:nvSpPr>
          <p:cNvPr id="10" name="tw_text_0206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国创赛场景下，最容易先落地的是可复现实验、课程实践和安全竞赛训练。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12" name="static_text_0207"/>
          <p:cNvSpPr/>
          <p:nvPr/>
        </p:nvSpPr>
        <p:spPr>
          <a:xfrm>
            <a:off x="841248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tatic_text_0208"/>
          <p:cNvSpPr/>
          <p:nvPr/>
        </p:nvSpPr>
        <p:spPr>
          <a:xfrm>
            <a:off x="1335024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</a:t>
            </a:r>
            <a:endParaRPr lang="en-US" sz="1000" dirty="0"/>
          </a:p>
        </p:txBody>
      </p:sp>
      <p:sp>
        <p:nvSpPr>
          <p:cNvPr id="14" name="tw_text_0209"/>
          <p:cNvSpPr/>
          <p:nvPr/>
        </p:nvSpPr>
        <p:spPr>
          <a:xfrm>
            <a:off x="896112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syscall 观测、LSM 阻断、Agent 风险 replay，可做成 AI 安全/系统安全课程实验。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383280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16" name="static_text_0210"/>
          <p:cNvSpPr/>
          <p:nvPr/>
        </p:nvSpPr>
        <p:spPr>
          <a:xfrm>
            <a:off x="3511296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tatic_text_0211"/>
          <p:cNvSpPr/>
          <p:nvPr/>
        </p:nvSpPr>
        <p:spPr>
          <a:xfrm>
            <a:off x="4005072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科研题目</a:t>
            </a:r>
            <a:endParaRPr lang="en-US" sz="1000" dirty="0"/>
          </a:p>
        </p:txBody>
      </p:sp>
      <p:sp>
        <p:nvSpPr>
          <p:cNvPr id="18" name="tw_text_0212"/>
          <p:cNvSpPr/>
          <p:nvPr/>
        </p:nvSpPr>
        <p:spPr>
          <a:xfrm>
            <a:off x="3566160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AI runtime guardrail、语义-事实一致性、执行图谱和误报控制，可沉淀论文/专利方向。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20" name="static_text_0213"/>
          <p:cNvSpPr/>
          <p:nvPr/>
        </p:nvSpPr>
        <p:spPr>
          <a:xfrm>
            <a:off x="6181344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tatic_text_0214"/>
          <p:cNvSpPr/>
          <p:nvPr/>
        </p:nvSpPr>
        <p:spPr>
          <a:xfrm>
            <a:off x="6675120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竞赛训练</a:t>
            </a:r>
            <a:endParaRPr lang="en-US" sz="1000" dirty="0"/>
          </a:p>
        </p:txBody>
      </p:sp>
      <p:sp>
        <p:nvSpPr>
          <p:cNvPr id="22" name="tw_text_0215"/>
          <p:cNvSpPr/>
          <p:nvPr/>
        </p:nvSpPr>
        <p:spPr>
          <a:xfrm>
            <a:off x="6236208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用良性/恶意任务 replay 构造靶场，训练学生识别 prompt 注入、MCP 密钥、异常外联。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86384" y="3090672"/>
            <a:ext cx="7571232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216"/>
          <p:cNvSpPr/>
          <p:nvPr/>
        </p:nvSpPr>
        <p:spPr>
          <a:xfrm>
            <a:off x="1024128" y="3310128"/>
            <a:ext cx="841248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080" dirty="0"/>
          </a:p>
        </p:txBody>
      </p:sp>
      <p:sp>
        <p:nvSpPr>
          <p:cNvPr id="25" name="tw_text_0217"/>
          <p:cNvSpPr/>
          <p:nvPr/>
        </p:nvSpPr>
        <p:spPr>
          <a:xfrm>
            <a:off x="1993392" y="3310128"/>
            <a:ext cx="59893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先以开源 demo + 实验文档进入课程/实验室；用竞赛演示和测试报告证明可复现；再争取软著、导师课题、校企联合实践。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4400" y="4224528"/>
            <a:ext cx="731520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4224528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8" name="static_text_0218"/>
          <p:cNvSpPr/>
          <p:nvPr/>
        </p:nvSpPr>
        <p:spPr>
          <a:xfrm>
            <a:off x="1060704" y="433425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近期成果</a:t>
            </a:r>
            <a:endParaRPr lang="en-US" sz="800" dirty="0"/>
          </a:p>
        </p:txBody>
      </p:sp>
      <p:sp>
        <p:nvSpPr>
          <p:cNvPr id="29" name="tw_text_0219"/>
          <p:cNvSpPr/>
          <p:nvPr/>
        </p:nvSpPr>
        <p:spPr>
          <a:xfrm>
            <a:off x="2468880" y="4343400"/>
            <a:ext cx="5577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演示视频、实验指导书、benchmark 数据集、软著/专利材料、导师推荐或试点证明。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5" grpId="0" build="p"/>
      <p:bldP spid="2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20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tatic_text_0221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222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应用前景二：AI coding 团队，解决“能用但不敢放开用”</a:t>
            </a:r>
            <a:endParaRPr lang="en-US" sz="2050" dirty="0"/>
          </a:p>
        </p:txBody>
      </p:sp>
      <p:sp>
        <p:nvSpPr>
          <p:cNvPr id="10" name="tw_text_0223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团队不是缺 AI 工具，而是缺本地执行链的边界、审计和复盘能力。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07008"/>
            <a:ext cx="2834640" cy="2834640"/>
          </a:xfrm>
          <a:prstGeom prst="roundRect">
            <a:avLst>
              <a:gd name="adj" fmla="val 11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1408176"/>
            <a:ext cx="2432304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770" y="1408176"/>
            <a:ext cx="2189259" cy="1280160"/>
          </a:xfrm>
          <a:prstGeom prst="rect">
            <a:avLst/>
          </a:prstGeom>
        </p:spPr>
      </p:pic>
      <p:sp>
        <p:nvSpPr>
          <p:cNvPr id="14" name="static_text_0224"/>
          <p:cNvSpPr/>
          <p:nvPr/>
        </p:nvSpPr>
        <p:spPr>
          <a:xfrm>
            <a:off x="877824" y="2907792"/>
            <a:ext cx="1005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付费理由</a:t>
            </a:r>
            <a:endParaRPr lang="en-US" sz="1120" dirty="0"/>
          </a:p>
        </p:txBody>
      </p:sp>
      <p:sp>
        <p:nvSpPr>
          <p:cNvPr id="15" name="tw_text_0225"/>
          <p:cNvSpPr/>
          <p:nvPr/>
        </p:nvSpPr>
        <p:spPr>
          <a:xfrm>
            <a:off x="877824" y="3236976"/>
            <a:ext cx="232257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AI-assisted commits 与 MCP 配置泄露会直接影响代码资产、凭据和客户数据；团队负责人需要可追责证据。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3822192" y="1225296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2192" y="1225296"/>
            <a:ext cx="45720" cy="6766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static_text_0226"/>
          <p:cNvSpPr/>
          <p:nvPr/>
        </p:nvSpPr>
        <p:spPr>
          <a:xfrm>
            <a:off x="3986784" y="1371600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策略模板</a:t>
            </a:r>
            <a:endParaRPr lang="en-US" sz="1100" dirty="0"/>
          </a:p>
        </p:txBody>
      </p:sp>
      <p:sp>
        <p:nvSpPr>
          <p:cNvPr id="19" name="tw_text_0227"/>
          <p:cNvSpPr/>
          <p:nvPr/>
        </p:nvSpPr>
        <p:spPr>
          <a:xfrm>
            <a:off x="3986784" y="1682496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只读审查、依赖安装、网络访问、敏感路径等团队级策略包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22192" y="2103120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2192" y="2103120"/>
            <a:ext cx="45720" cy="6766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static_text_0228"/>
          <p:cNvSpPr/>
          <p:nvPr/>
        </p:nvSpPr>
        <p:spPr>
          <a:xfrm>
            <a:off x="3986784" y="2249424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</a:t>
            </a:r>
            <a:endParaRPr lang="en-US" sz="1100" dirty="0"/>
          </a:p>
        </p:txBody>
      </p:sp>
      <p:sp>
        <p:nvSpPr>
          <p:cNvPr id="23" name="tw_text_0229"/>
          <p:cNvSpPr/>
          <p:nvPr/>
        </p:nvSpPr>
        <p:spPr>
          <a:xfrm>
            <a:off x="3986784" y="2560320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run/task/tool_call 输出证据链，支持复盘与责任界定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3822192" y="2980944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2192" y="2980944"/>
            <a:ext cx="45720" cy="6766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6" name="static_text_0230"/>
          <p:cNvSpPr/>
          <p:nvPr/>
        </p:nvSpPr>
        <p:spPr>
          <a:xfrm>
            <a:off x="3986784" y="3127248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</a:t>
            </a:r>
            <a:endParaRPr lang="en-US" sz="1100" dirty="0"/>
          </a:p>
        </p:txBody>
      </p:sp>
      <p:sp>
        <p:nvSpPr>
          <p:cNvPr id="27" name="tw_text_0231"/>
          <p:cNvSpPr/>
          <p:nvPr/>
        </p:nvSpPr>
        <p:spPr>
          <a:xfrm>
            <a:off x="3986784" y="3438144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将真实告警转成 replay 数据，持续降低误报和漏报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822192" y="4096512"/>
            <a:ext cx="4443984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22192" y="4096512"/>
            <a:ext cx="1353312" cy="365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0" name="static_text_0232"/>
          <p:cNvSpPr/>
          <p:nvPr/>
        </p:nvSpPr>
        <p:spPr>
          <a:xfrm>
            <a:off x="3968496" y="422452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商业入口</a:t>
            </a:r>
            <a:endParaRPr lang="en-US" sz="800" dirty="0"/>
          </a:p>
        </p:txBody>
      </p:sp>
      <p:sp>
        <p:nvSpPr>
          <p:cNvPr id="31" name="tw_text_0233"/>
          <p:cNvSpPr/>
          <p:nvPr/>
        </p:nvSpPr>
        <p:spPr>
          <a:xfrm>
            <a:off x="5376672" y="4215384"/>
            <a:ext cx="270662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Pro：团队策略、多人审计、报表导出、告警训练集。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static_text_0234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资料来源：[2] GitGuardian State of Secrets Sprawl 2026；[1] Stack Overflow Developer Survey 2025。详见参考文献页。</a:t>
            </a:r>
            <a:endParaRPr lang="en-US" sz="6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5" grpId="0" build="p"/>
      <p:bldP spid="19" grpId="0" build="p"/>
      <p:bldP spid="23" grpId="0" build="p"/>
      <p:bldP spid="27" grpId="0" build="p"/>
      <p:bldP spid="31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35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tatic_text_0236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23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未来前景三：企业私有化，成为 Agent 安全基础设施</a:t>
            </a:r>
            <a:endParaRPr lang="en-US" sz="2050" dirty="0"/>
          </a:p>
        </p:txBody>
      </p:sp>
      <p:sp>
        <p:nvSpPr>
          <p:cNvPr id="10" name="tw_text_023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企业价值不只是 UI，而是把 Agent 执行证据送进合规、审计、安全运营和策略治理流程。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1261872"/>
            <a:ext cx="45720" cy="26517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239"/>
          <p:cNvSpPr/>
          <p:nvPr/>
        </p:nvSpPr>
        <p:spPr>
          <a:xfrm>
            <a:off x="749808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100" dirty="0"/>
          </a:p>
        </p:txBody>
      </p:sp>
      <p:sp>
        <p:nvSpPr>
          <p:cNvPr id="14" name="tw_text_0240"/>
          <p:cNvSpPr/>
          <p:nvPr/>
        </p:nvSpPr>
        <p:spPr>
          <a:xfrm>
            <a:off x="749808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单机开发机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团队网关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/ 多节点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离线私有化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70048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261872"/>
            <a:ext cx="45720" cy="2651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241"/>
          <p:cNvSpPr/>
          <p:nvPr/>
        </p:nvSpPr>
        <p:spPr>
          <a:xfrm>
            <a:off x="2834640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集成对象</a:t>
            </a:r>
            <a:endParaRPr lang="en-US" sz="1100" dirty="0"/>
          </a:p>
        </p:txBody>
      </p:sp>
      <p:sp>
        <p:nvSpPr>
          <p:cNvPr id="18" name="tw_text_0242"/>
          <p:cNvSpPr/>
          <p:nvPr/>
        </p:nvSpPr>
        <p:spPr>
          <a:xfrm>
            <a:off x="2834640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SIEM / OTLP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审计留存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/ token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策略审批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754880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261872"/>
            <a:ext cx="45720" cy="265176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243"/>
          <p:cNvSpPr/>
          <p:nvPr/>
        </p:nvSpPr>
        <p:spPr>
          <a:xfrm>
            <a:off x="4919472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交付价值</a:t>
            </a:r>
            <a:endParaRPr lang="en-US" sz="1100" dirty="0"/>
          </a:p>
        </p:txBody>
      </p:sp>
      <p:sp>
        <p:nvSpPr>
          <p:cNvPr id="22" name="tw_text_0244"/>
          <p:cNvSpPr/>
          <p:nvPr/>
        </p:nvSpPr>
        <p:spPr>
          <a:xfrm>
            <a:off x="4919472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外联约束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敏感路径保护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事故复盘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合规报告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39712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1261872"/>
            <a:ext cx="45720" cy="265176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static_text_0245"/>
          <p:cNvSpPr/>
          <p:nvPr/>
        </p:nvSpPr>
        <p:spPr>
          <a:xfrm>
            <a:off x="7004304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服务收入</a:t>
            </a:r>
            <a:endParaRPr lang="en-US" sz="1100" dirty="0"/>
          </a:p>
        </p:txBody>
      </p:sp>
      <p:sp>
        <p:nvSpPr>
          <p:cNvPr id="26" name="tw_text_0246"/>
          <p:cNvSpPr/>
          <p:nvPr/>
        </p:nvSpPr>
        <p:spPr>
          <a:xfrm>
            <a:off x="7004304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策略调优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培训与靶场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59536" y="4151376"/>
            <a:ext cx="7406640" cy="329184"/>
          </a:xfrm>
          <a:prstGeom prst="roundRect">
            <a:avLst>
              <a:gd name="adj" fmla="val 5556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w_text_0247"/>
          <p:cNvSpPr/>
          <p:nvPr/>
        </p:nvSpPr>
        <p:spPr>
          <a:xfrm>
            <a:off x="1042416" y="42565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长期前景：当 Agent 成为企业标准生产力工具，runtime guardrail 会像日志、EDR、CI 安全一样成为基础设施。</a:t>
            </a:r>
            <a:endParaRPr lang="en-US" sz="78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6" grpId="0" build="p"/>
      <p:bldP spid="28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4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tatic_text_024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25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商业模式：围绕深度能力收费，而不是围绕页面数量收费</a:t>
            </a:r>
            <a:endParaRPr lang="en-US" sz="2050" dirty="0"/>
          </a:p>
        </p:txBody>
      </p:sp>
      <p:sp>
        <p:nvSpPr>
          <p:cNvPr id="10" name="tw_text_025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开源用于建立信任，付费集中在团队治理、私有化交付和教育内容。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25296"/>
            <a:ext cx="8010144" cy="3072384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252"/>
          <p:cNvSpPr/>
          <p:nvPr/>
        </p:nvSpPr>
        <p:spPr>
          <a:xfrm>
            <a:off x="859536" y="1481328"/>
            <a:ext cx="114300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00" dirty="0"/>
          </a:p>
        </p:txBody>
      </p:sp>
      <p:sp>
        <p:nvSpPr>
          <p:cNvPr id="13" name="static_text_0253"/>
          <p:cNvSpPr/>
          <p:nvPr/>
        </p:nvSpPr>
        <p:spPr>
          <a:xfrm>
            <a:off x="1993392" y="1481328"/>
            <a:ext cx="1188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00" dirty="0"/>
          </a:p>
        </p:txBody>
      </p:sp>
      <p:sp>
        <p:nvSpPr>
          <p:cNvPr id="14" name="static_text_0254"/>
          <p:cNvSpPr/>
          <p:nvPr/>
        </p:nvSpPr>
        <p:spPr>
          <a:xfrm>
            <a:off x="3218688" y="1481328"/>
            <a:ext cx="28346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800" dirty="0"/>
          </a:p>
        </p:txBody>
      </p:sp>
      <p:sp>
        <p:nvSpPr>
          <p:cNvPr id="15" name="static_text_0255"/>
          <p:cNvSpPr/>
          <p:nvPr/>
        </p:nvSpPr>
        <p:spPr>
          <a:xfrm>
            <a:off x="6291072" y="1481328"/>
            <a:ext cx="150876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86384" y="1737360"/>
            <a:ext cx="7552944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7" name="static_text_0256"/>
          <p:cNvSpPr/>
          <p:nvPr/>
        </p:nvSpPr>
        <p:spPr>
          <a:xfrm>
            <a:off x="859536" y="1920240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20" dirty="0"/>
          </a:p>
        </p:txBody>
      </p:sp>
      <p:sp>
        <p:nvSpPr>
          <p:cNvPr id="18" name="static_text_0257"/>
          <p:cNvSpPr/>
          <p:nvPr/>
        </p:nvSpPr>
        <p:spPr>
          <a:xfrm>
            <a:off x="1993392" y="1920240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10" dirty="0"/>
          </a:p>
        </p:txBody>
      </p:sp>
      <p:sp>
        <p:nvSpPr>
          <p:cNvPr id="19" name="tw_text_0258"/>
          <p:cNvSpPr/>
          <p:nvPr/>
        </p:nvSpPr>
        <p:spPr>
          <a:xfrm>
            <a:off x="3218688" y="1920240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10" dirty="0"/>
          </a:p>
        </p:txBody>
      </p:sp>
      <p:sp>
        <p:nvSpPr>
          <p:cNvPr id="20" name="tw_text_0259"/>
          <p:cNvSpPr/>
          <p:nvPr/>
        </p:nvSpPr>
        <p:spPr>
          <a:xfrm>
            <a:off x="6291072" y="1920240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开发者获客与课程传播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768096" y="2258568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2" name="static_text_0260"/>
          <p:cNvSpPr/>
          <p:nvPr/>
        </p:nvSpPr>
        <p:spPr>
          <a:xfrm>
            <a:off x="859536" y="2304288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20" dirty="0"/>
          </a:p>
        </p:txBody>
      </p:sp>
      <p:sp>
        <p:nvSpPr>
          <p:cNvPr id="23" name="static_text_0261"/>
          <p:cNvSpPr/>
          <p:nvPr/>
        </p:nvSpPr>
        <p:spPr>
          <a:xfrm>
            <a:off x="1993392" y="230428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10" dirty="0"/>
          </a:p>
        </p:txBody>
      </p:sp>
      <p:sp>
        <p:nvSpPr>
          <p:cNvPr id="24" name="tw_text_0262"/>
          <p:cNvSpPr/>
          <p:nvPr/>
        </p:nvSpPr>
        <p:spPr>
          <a:xfrm>
            <a:off x="3218688" y="2304288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710" dirty="0"/>
          </a:p>
        </p:txBody>
      </p:sp>
      <p:sp>
        <p:nvSpPr>
          <p:cNvPr id="25" name="tw_text_0263"/>
          <p:cNvSpPr/>
          <p:nvPr/>
        </p:nvSpPr>
        <p:spPr>
          <a:xfrm>
            <a:off x="6291072" y="2304288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团队治理</a:t>
            </a:r>
            <a:endParaRPr lang="en-US" sz="710" dirty="0"/>
          </a:p>
        </p:txBody>
      </p:sp>
      <p:sp>
        <p:nvSpPr>
          <p:cNvPr id="26" name="tw_text_0264"/>
          <p:cNvSpPr/>
          <p:nvPr/>
        </p:nvSpPr>
        <p:spPr>
          <a:xfrm>
            <a:off x="859536" y="2688336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20" dirty="0"/>
          </a:p>
        </p:txBody>
      </p:sp>
      <p:sp>
        <p:nvSpPr>
          <p:cNvPr id="27" name="static_text_0265"/>
          <p:cNvSpPr/>
          <p:nvPr/>
        </p:nvSpPr>
        <p:spPr>
          <a:xfrm>
            <a:off x="1993392" y="268833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10" dirty="0"/>
          </a:p>
        </p:txBody>
      </p:sp>
      <p:sp>
        <p:nvSpPr>
          <p:cNvPr id="28" name="tw_text_0266"/>
          <p:cNvSpPr/>
          <p:nvPr/>
        </p:nvSpPr>
        <p:spPr>
          <a:xfrm>
            <a:off x="3218688" y="2688336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私有化、多节点、SSO、SIEM、审计留存</a:t>
            </a:r>
            <a:endParaRPr lang="en-US" sz="710" dirty="0"/>
          </a:p>
        </p:txBody>
      </p:sp>
      <p:sp>
        <p:nvSpPr>
          <p:cNvPr id="29" name="static_text_0267"/>
          <p:cNvSpPr/>
          <p:nvPr/>
        </p:nvSpPr>
        <p:spPr>
          <a:xfrm>
            <a:off x="6291072" y="2688336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企业合规与安全运营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768096" y="3026664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1" name="tw_text_0268"/>
          <p:cNvSpPr/>
          <p:nvPr/>
        </p:nvSpPr>
        <p:spPr>
          <a:xfrm>
            <a:off x="859536" y="3072384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20" dirty="0"/>
          </a:p>
        </p:txBody>
      </p:sp>
      <p:sp>
        <p:nvSpPr>
          <p:cNvPr id="32" name="static_text_0269"/>
          <p:cNvSpPr/>
          <p:nvPr/>
        </p:nvSpPr>
        <p:spPr>
          <a:xfrm>
            <a:off x="1993392" y="3072384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10" dirty="0"/>
          </a:p>
        </p:txBody>
      </p:sp>
      <p:sp>
        <p:nvSpPr>
          <p:cNvPr id="33" name="tw_text_0270"/>
          <p:cNvSpPr/>
          <p:nvPr/>
        </p:nvSpPr>
        <p:spPr>
          <a:xfrm>
            <a:off x="3218688" y="3072384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10" dirty="0"/>
          </a:p>
        </p:txBody>
      </p:sp>
      <p:sp>
        <p:nvSpPr>
          <p:cNvPr id="34" name="static_text_0271"/>
          <p:cNvSpPr/>
          <p:nvPr/>
        </p:nvSpPr>
        <p:spPr>
          <a:xfrm>
            <a:off x="6291072" y="3072384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高校实验室与培训</a:t>
            </a:r>
            <a:endParaRPr lang="en-US" sz="710" dirty="0"/>
          </a:p>
        </p:txBody>
      </p:sp>
      <p:sp>
        <p:nvSpPr>
          <p:cNvPr id="35" name="tw_text_0272"/>
          <p:cNvSpPr/>
          <p:nvPr/>
        </p:nvSpPr>
        <p:spPr>
          <a:xfrm>
            <a:off x="859536" y="3456432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20" dirty="0"/>
          </a:p>
        </p:txBody>
      </p:sp>
      <p:sp>
        <p:nvSpPr>
          <p:cNvPr id="36" name="static_text_0273"/>
          <p:cNvSpPr/>
          <p:nvPr/>
        </p:nvSpPr>
        <p:spPr>
          <a:xfrm>
            <a:off x="1993392" y="3456432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10" dirty="0"/>
          </a:p>
        </p:txBody>
      </p:sp>
      <p:sp>
        <p:nvSpPr>
          <p:cNvPr id="37" name="tw_text_0274"/>
          <p:cNvSpPr/>
          <p:nvPr/>
        </p:nvSpPr>
        <p:spPr>
          <a:xfrm>
            <a:off x="3218688" y="3456432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10" dirty="0"/>
          </a:p>
        </p:txBody>
      </p:sp>
      <p:sp>
        <p:nvSpPr>
          <p:cNvPr id="38" name="static_text_0275"/>
          <p:cNvSpPr/>
          <p:nvPr/>
        </p:nvSpPr>
        <p:spPr>
          <a:xfrm>
            <a:off x="6291072" y="3456432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落地服务收入</a:t>
            </a:r>
            <a:endParaRPr lang="en-US" sz="710" dirty="0"/>
          </a:p>
        </p:txBody>
      </p:sp>
      <p:sp>
        <p:nvSpPr>
          <p:cNvPr id="39" name="tw_text_0276"/>
          <p:cNvSpPr/>
          <p:nvPr/>
        </p:nvSpPr>
        <p:spPr>
          <a:xfrm>
            <a:off x="932688" y="4462272"/>
            <a:ext cx="727862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注：价格为校赛版测算，提交前建议补充真实访谈、试点意向或导师/企业推荐证明。</a:t>
            </a:r>
            <a:endParaRPr lang="en-US" sz="7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90"/>
                      </p:stCondLst>
                      <p:childTnLst>
                        <p:par>
                          <p:cTn id="2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8" dur="88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1" dur="925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90"/>
                      </p:stCondLst>
                      <p:childTnLst>
                        <p:par>
                          <p:cTn id="3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4" dur="97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90"/>
                      </p:stCondLst>
                      <p:childTnLst>
                        <p:par>
                          <p:cTn id="3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7" dur="1015" fill="hold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0" dur="106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9" grpId="0" build="p"/>
      <p:bldP spid="20" grpId="0" build="p"/>
      <p:bldP spid="24" grpId="0" build="p"/>
      <p:bldP spid="25" grpId="0" build="p"/>
      <p:bldP spid="26" grpId="0" build="p"/>
      <p:bldP spid="28" grpId="0" build="p"/>
      <p:bldP spid="31" grpId="0" build="p"/>
      <p:bldP spid="33" grpId="0" build="p"/>
      <p:bldP spid="35" grpId="0" build="p"/>
      <p:bldP spid="37" grpId="0" build="p"/>
      <p:bldP spid="3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77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tatic_text_0278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279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实施路线：先把深度闭环跑稳，再扩展场景</a:t>
            </a:r>
            <a:endParaRPr lang="en-US" sz="2050" dirty="0"/>
          </a:p>
        </p:txBody>
      </p:sp>
      <p:sp>
        <p:nvSpPr>
          <p:cNvPr id="10" name="tw_text_0280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路线图从“证明内核闭环可靠”开始，而不是先堆平台功能。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139696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1965960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static_text_0281"/>
          <p:cNvSpPr/>
          <p:nvPr/>
        </p:nvSpPr>
        <p:spPr>
          <a:xfrm>
            <a:off x="704088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50" dirty="0"/>
          </a:p>
        </p:txBody>
      </p:sp>
      <p:sp>
        <p:nvSpPr>
          <p:cNvPr id="15" name="static_text_0282"/>
          <p:cNvSpPr/>
          <p:nvPr/>
        </p:nvSpPr>
        <p:spPr>
          <a:xfrm>
            <a:off x="704088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深度演示</a:t>
            </a:r>
            <a:endParaRPr lang="en-US" sz="920" dirty="0"/>
          </a:p>
        </p:txBody>
      </p:sp>
      <p:sp>
        <p:nvSpPr>
          <p:cNvPr id="16" name="tw_text_0283"/>
          <p:cNvSpPr/>
          <p:nvPr/>
        </p:nvSpPr>
        <p:spPr>
          <a:xfrm>
            <a:off x="704088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敏感路径、异常外联、LSM/cgroup 阻断、证据链回放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2852928" y="1965960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tatic_text_0284"/>
          <p:cNvSpPr/>
          <p:nvPr/>
        </p:nvSpPr>
        <p:spPr>
          <a:xfrm>
            <a:off x="2386584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50" dirty="0"/>
          </a:p>
        </p:txBody>
      </p:sp>
      <p:sp>
        <p:nvSpPr>
          <p:cNvPr id="20" name="static_text_0285"/>
          <p:cNvSpPr/>
          <p:nvPr/>
        </p:nvSpPr>
        <p:spPr>
          <a:xfrm>
            <a:off x="2386584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量化验证</a:t>
            </a:r>
            <a:endParaRPr lang="en-US" sz="920" dirty="0"/>
          </a:p>
        </p:txBody>
      </p:sp>
      <p:sp>
        <p:nvSpPr>
          <p:cNvPr id="21" name="tw_text_0286"/>
          <p:cNvSpPr/>
          <p:nvPr/>
        </p:nvSpPr>
        <p:spPr>
          <a:xfrm>
            <a:off x="2386584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检测率、阻断率、误报、事件延迟、CPU/内存开销</a:t>
            </a:r>
            <a:endParaRPr lang="en-US" sz="630" dirty="0"/>
          </a:p>
        </p:txBody>
      </p:sp>
      <p:sp>
        <p:nvSpPr>
          <p:cNvPr id="22" name="Shape 20"/>
          <p:cNvSpPr/>
          <p:nvPr/>
        </p:nvSpPr>
        <p:spPr>
          <a:xfrm>
            <a:off x="4535424" y="1965960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287"/>
          <p:cNvSpPr/>
          <p:nvPr/>
        </p:nvSpPr>
        <p:spPr>
          <a:xfrm>
            <a:off x="4069080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50" dirty="0"/>
          </a:p>
        </p:txBody>
      </p:sp>
      <p:sp>
        <p:nvSpPr>
          <p:cNvPr id="25" name="static_text_0288"/>
          <p:cNvSpPr/>
          <p:nvPr/>
        </p:nvSpPr>
        <p:spPr>
          <a:xfrm>
            <a:off x="4069080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高校试点</a:t>
            </a:r>
            <a:endParaRPr lang="en-US" sz="920" dirty="0"/>
          </a:p>
        </p:txBody>
      </p:sp>
      <p:sp>
        <p:nvSpPr>
          <p:cNvPr id="26" name="tw_text_0289"/>
          <p:cNvSpPr/>
          <p:nvPr/>
        </p:nvSpPr>
        <p:spPr>
          <a:xfrm>
            <a:off x="4069080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课程实验、靶场、实验室试用、导师反馈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tatic_text_0290"/>
          <p:cNvSpPr/>
          <p:nvPr/>
        </p:nvSpPr>
        <p:spPr>
          <a:xfrm>
            <a:off x="5751576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50" dirty="0"/>
          </a:p>
        </p:txBody>
      </p:sp>
      <p:sp>
        <p:nvSpPr>
          <p:cNvPr id="30" name="static_text_0291"/>
          <p:cNvSpPr/>
          <p:nvPr/>
        </p:nvSpPr>
        <p:spPr>
          <a:xfrm>
            <a:off x="5751576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20" dirty="0"/>
          </a:p>
        </p:txBody>
      </p:sp>
      <p:sp>
        <p:nvSpPr>
          <p:cNvPr id="31" name="tw_text_0292"/>
          <p:cNvSpPr/>
          <p:nvPr/>
        </p:nvSpPr>
        <p:spPr>
          <a:xfrm>
            <a:off x="5751576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软著、专利、论文、合作证明、开源社区</a:t>
            </a:r>
            <a:endParaRPr lang="en-US" sz="630" dirty="0"/>
          </a:p>
        </p:txBody>
      </p:sp>
      <p:sp>
        <p:nvSpPr>
          <p:cNvPr id="32" name="Shape 30"/>
          <p:cNvSpPr/>
          <p:nvPr/>
        </p:nvSpPr>
        <p:spPr>
          <a:xfrm>
            <a:off x="7900416" y="1965960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static_text_0293"/>
          <p:cNvSpPr/>
          <p:nvPr/>
        </p:nvSpPr>
        <p:spPr>
          <a:xfrm>
            <a:off x="7434072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50" dirty="0"/>
          </a:p>
        </p:txBody>
      </p:sp>
      <p:sp>
        <p:nvSpPr>
          <p:cNvPr id="35" name="static_text_0294"/>
          <p:cNvSpPr/>
          <p:nvPr/>
        </p:nvSpPr>
        <p:spPr>
          <a:xfrm>
            <a:off x="7434072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20" dirty="0"/>
          </a:p>
        </p:txBody>
      </p:sp>
      <p:sp>
        <p:nvSpPr>
          <p:cNvPr id="36" name="tw_text_0295"/>
          <p:cNvSpPr/>
          <p:nvPr/>
        </p:nvSpPr>
        <p:spPr>
          <a:xfrm>
            <a:off x="7434072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Pro、企业私有化、教育套件、咨询服务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841248" y="4261104"/>
            <a:ext cx="745236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" y="4261104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9" name="static_text_0296"/>
          <p:cNvSpPr/>
          <p:nvPr/>
        </p:nvSpPr>
        <p:spPr>
          <a:xfrm>
            <a:off x="987552" y="437083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阶段判断</a:t>
            </a:r>
            <a:endParaRPr lang="en-US" sz="800" dirty="0"/>
          </a:p>
        </p:txBody>
      </p:sp>
      <p:sp>
        <p:nvSpPr>
          <p:cNvPr id="40" name="tw_text_0297"/>
          <p:cNvSpPr/>
          <p:nvPr/>
        </p:nvSpPr>
        <p:spPr>
          <a:xfrm>
            <a:off x="2395728" y="4379976"/>
            <a:ext cx="5715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如果内核闭环和低误报验证不充分，不急于扩大 UI 功能；先把最难的技术证明做扎实。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6" grpId="0" build="p"/>
      <p:bldP spid="21" grpId="0" build="p"/>
      <p:bldP spid="26" grpId="0" build="p"/>
      <p:bldP spid="31" grpId="0" build="p"/>
      <p:bldP spid="36" grpId="0" build="p"/>
      <p:bldP spid="40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298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tatic_text_0299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300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团队分工与合规边界：围绕深度闭环组织，而不是按页面分工</a:t>
            </a:r>
            <a:endParaRPr lang="en-US" sz="2050" dirty="0"/>
          </a:p>
        </p:txBody>
      </p:sp>
      <p:sp>
        <p:nvSpPr>
          <p:cNvPr id="10" name="tw_text_0301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302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技术主线</a:t>
            </a:r>
            <a:endParaRPr lang="en-US" sz="1100" dirty="0"/>
          </a:p>
        </p:txBody>
      </p:sp>
      <p:sp>
        <p:nvSpPr>
          <p:cNvPr id="14" name="tw_text_0303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eBPF/LSM/cgroup：【待填】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上下文继承/执行图谱：【待填】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语义风险检测：【待填】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性能与误报验证：【待填】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304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应用主线</a:t>
            </a:r>
            <a:endParaRPr lang="en-US" sz="1100" dirty="0"/>
          </a:p>
        </p:txBody>
      </p:sp>
      <p:sp>
        <p:nvSpPr>
          <p:cNvPr id="18" name="tw_text_0305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高校实验与课程：【待填】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团队/企业访谈：【待填】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商业模式与报价：【待填】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演示视频与材料：【待填】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static_text_0306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100" dirty="0"/>
          </a:p>
        </p:txBody>
      </p:sp>
      <p:sp>
        <p:nvSpPr>
          <p:cNvPr id="22" name="tw_text_0307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只在本地/授权环境使用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先观察后阻断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不采集未授权数据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780" dirty="0"/>
          </a:p>
        </p:txBody>
      </p:sp>
      <p:sp>
        <p:nvSpPr>
          <p:cNvPr id="23" name="tw_text_0308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309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" name="static_text_0310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w_text_0311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总结：技术深度解决信任问题，应用前景决定项目价值</a:t>
            </a:r>
            <a:endParaRPr lang="en-US" sz="2050" dirty="0"/>
          </a:p>
        </p:txBody>
      </p:sp>
      <p:sp>
        <p:nvSpPr>
          <p:cNvPr id="10" name="tw_text_0312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用公开数据说明刚需，用内核闭环证明技术深度，用明确场景说明落地前景。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97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static_text_0313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1：可信事实</a:t>
            </a:r>
            <a:endParaRPr lang="en-US" sz="1100" dirty="0"/>
          </a:p>
        </p:txBody>
      </p:sp>
      <p:sp>
        <p:nvSpPr>
          <p:cNvPr id="14" name="tw_text_0314"/>
          <p:cNvSpPr/>
          <p:nvPr/>
        </p:nvSpPr>
        <p:spPr>
          <a:xfrm>
            <a:off x="841248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采集关键 OS 行为，EventEnvelope 统一语义和事实字段，形成不可只靠 prompt 替代的证据底座。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972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static_text_03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2：前置控制</a:t>
            </a:r>
            <a:endParaRPr lang="en-US" sz="1100" dirty="0"/>
          </a:p>
        </p:txBody>
      </p:sp>
      <p:sp>
        <p:nvSpPr>
          <p:cNvPr id="18" name="tw_text_0316"/>
          <p:cNvSpPr/>
          <p:nvPr/>
        </p:nvSpPr>
        <p:spPr>
          <a:xfrm>
            <a:off x="3529584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LSM/cgroup 把策略放到危险动作发生前，证明项目不是事后看板，而是 runtime guardrail。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97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static_text_0317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前景：三类场景</a:t>
            </a:r>
            <a:endParaRPr lang="en-US" sz="1100" dirty="0"/>
          </a:p>
        </p:txBody>
      </p:sp>
      <p:sp>
        <p:nvSpPr>
          <p:cNvPr id="22" name="tw_text_0318"/>
          <p:cNvSpPr/>
          <p:nvPr/>
        </p:nvSpPr>
        <p:spPr>
          <a:xfrm>
            <a:off x="6217920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团队、企业私有化分别对应成果转化、团队治理和合规运营。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w_text_0319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w_text_0320"/>
          <p:cNvSpPr/>
          <p:nvPr/>
        </p:nvSpPr>
        <p:spPr>
          <a:xfrm>
            <a:off x="987552" y="3639312"/>
            <a:ext cx="716889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 PPT 中统计数据、案例与外部框架已用 [1]–[6] 标注来源；参考文献按 GB/T 7714 常用格式列于下一页。</a:t>
            </a:r>
            <a:endParaRPr lang="en-US" sz="860" dirty="0"/>
          </a:p>
        </p:txBody>
      </p:sp>
      <p:sp>
        <p:nvSpPr>
          <p:cNvPr id="27" name="tw_text_0321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14" grpId="0" build="p"/>
      <p:bldP spid="18" grpId="0" build="p"/>
      <p:bldP spid="22" grpId="0" build="p"/>
      <p:bldP spid="24" grpId="0" build="p"/>
      <p:bldP spid="26" grpId="0" build="p"/>
      <p:bldP spid="2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static_text_0322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7" name="static_text_0323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REF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static_text_0324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050" dirty="0"/>
          </a:p>
        </p:txBody>
      </p:sp>
      <p:sp>
        <p:nvSpPr>
          <p:cNvPr id="10" name="tw_text_0325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按中国大陆论文常用著录习惯整理；网络资源类型标注为 [EB/OL]。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14300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tatic_text_0326"/>
          <p:cNvSpPr/>
          <p:nvPr/>
        </p:nvSpPr>
        <p:spPr>
          <a:xfrm>
            <a:off x="804672" y="127101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780" dirty="0"/>
          </a:p>
        </p:txBody>
      </p:sp>
      <p:sp>
        <p:nvSpPr>
          <p:cNvPr id="13" name="tw_text_0327"/>
          <p:cNvSpPr/>
          <p:nvPr/>
        </p:nvSpPr>
        <p:spPr>
          <a:xfrm>
            <a:off x="1243584" y="121158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Overflow. Stack Overflow Developer Survey 2025: AI tools adoption and usage[EB/OL].</a:t>
            </a:r>
            <a:endParaRPr lang="en-US" sz="680" dirty="0"/>
          </a:p>
        </p:txBody>
      </p:sp>
      <p:sp>
        <p:nvSpPr>
          <p:cNvPr id="14" name="tw_text_0328"/>
          <p:cNvSpPr/>
          <p:nvPr/>
        </p:nvSpPr>
        <p:spPr>
          <a:xfrm>
            <a:off x="1243584" y="136702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[2026-05-26]. https://survey.stackoverflow.co/2025/ai</a:t>
            </a:r>
            <a:endParaRPr lang="en-US" sz="570" dirty="0"/>
          </a:p>
        </p:txBody>
      </p:sp>
      <p:sp>
        <p:nvSpPr>
          <p:cNvPr id="15" name="Shape 13"/>
          <p:cNvSpPr/>
          <p:nvPr/>
        </p:nvSpPr>
        <p:spPr>
          <a:xfrm>
            <a:off x="658368" y="1673352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tatic_text_0329"/>
          <p:cNvSpPr/>
          <p:nvPr/>
        </p:nvSpPr>
        <p:spPr>
          <a:xfrm>
            <a:off x="804672" y="1801368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780" dirty="0"/>
          </a:p>
        </p:txBody>
      </p:sp>
      <p:sp>
        <p:nvSpPr>
          <p:cNvPr id="17" name="tw_text_0330"/>
          <p:cNvSpPr/>
          <p:nvPr/>
        </p:nvSpPr>
        <p:spPr>
          <a:xfrm>
            <a:off x="1243584" y="1741932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GitGuardian. The State of Secrets Sprawl 2026[EB/OL].</a:t>
            </a:r>
            <a:endParaRPr lang="en-US" sz="680" dirty="0"/>
          </a:p>
        </p:txBody>
      </p:sp>
      <p:sp>
        <p:nvSpPr>
          <p:cNvPr id="18" name="tw_text_0331"/>
          <p:cNvSpPr/>
          <p:nvPr/>
        </p:nvSpPr>
        <p:spPr>
          <a:xfrm>
            <a:off x="1243584" y="1897380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https://blog.gitguardian.com/the-state-of-secrets-sprawl-2026/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658368" y="2203704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tatic_text_0332"/>
          <p:cNvSpPr/>
          <p:nvPr/>
        </p:nvSpPr>
        <p:spPr>
          <a:xfrm>
            <a:off x="804672" y="2331720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780" dirty="0"/>
          </a:p>
        </p:txBody>
      </p:sp>
      <p:sp>
        <p:nvSpPr>
          <p:cNvPr id="21" name="tw_text_0333"/>
          <p:cNvSpPr/>
          <p:nvPr/>
        </p:nvSpPr>
        <p:spPr>
          <a:xfrm>
            <a:off x="1243584" y="2272284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IBM. Cost of a Data Breach Report 2025[EB/OL].</a:t>
            </a:r>
            <a:endParaRPr lang="en-US" sz="680" dirty="0"/>
          </a:p>
        </p:txBody>
      </p:sp>
      <p:sp>
        <p:nvSpPr>
          <p:cNvPr id="22" name="tw_text_0334"/>
          <p:cNvSpPr/>
          <p:nvPr/>
        </p:nvSpPr>
        <p:spPr>
          <a:xfrm>
            <a:off x="1243584" y="24277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https://www.ibm.com/reports/data-breach</a:t>
            </a:r>
            <a:endParaRPr lang="en-US" sz="570" dirty="0"/>
          </a:p>
        </p:txBody>
      </p:sp>
      <p:sp>
        <p:nvSpPr>
          <p:cNvPr id="23" name="Shape 21"/>
          <p:cNvSpPr/>
          <p:nvPr/>
        </p:nvSpPr>
        <p:spPr>
          <a:xfrm>
            <a:off x="658368" y="2734056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tatic_text_0335"/>
          <p:cNvSpPr/>
          <p:nvPr/>
        </p:nvSpPr>
        <p:spPr>
          <a:xfrm>
            <a:off x="804672" y="2862072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780" dirty="0"/>
          </a:p>
        </p:txBody>
      </p:sp>
      <p:sp>
        <p:nvSpPr>
          <p:cNvPr id="25" name="tw_text_0336"/>
          <p:cNvSpPr/>
          <p:nvPr/>
        </p:nvSpPr>
        <p:spPr>
          <a:xfrm>
            <a:off x="1243584" y="2802636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Foundation. OWASP Top 10 for LLM Applications and Agentic AI Threats[EB/OL].</a:t>
            </a:r>
            <a:endParaRPr lang="en-US" sz="680" dirty="0"/>
          </a:p>
        </p:txBody>
      </p:sp>
      <p:sp>
        <p:nvSpPr>
          <p:cNvPr id="26" name="tw_text_0337"/>
          <p:cNvSpPr/>
          <p:nvPr/>
        </p:nvSpPr>
        <p:spPr>
          <a:xfrm>
            <a:off x="1243584" y="2958084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https://owasp.org/www-project-top-10-for-large-language-model-applications/</a:t>
            </a:r>
            <a:endParaRPr lang="en-US" sz="570" dirty="0"/>
          </a:p>
        </p:txBody>
      </p:sp>
      <p:sp>
        <p:nvSpPr>
          <p:cNvPr id="27" name="Shape 25"/>
          <p:cNvSpPr/>
          <p:nvPr/>
        </p:nvSpPr>
        <p:spPr>
          <a:xfrm>
            <a:off x="658368" y="3264408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8" name="static_text_0338"/>
          <p:cNvSpPr/>
          <p:nvPr/>
        </p:nvSpPr>
        <p:spPr>
          <a:xfrm>
            <a:off x="804672" y="3392424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780" dirty="0"/>
          </a:p>
        </p:txBody>
      </p:sp>
      <p:sp>
        <p:nvSpPr>
          <p:cNvPr id="29" name="tw_text_0339"/>
          <p:cNvSpPr/>
          <p:nvPr/>
        </p:nvSpPr>
        <p:spPr>
          <a:xfrm>
            <a:off x="1243584" y="3332988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Security Alliance. M365 Copilot command injection at scale: security guidance for CVE-2026-24299[EB/OL].</a:t>
            </a:r>
            <a:endParaRPr lang="en-US" sz="680" dirty="0"/>
          </a:p>
        </p:txBody>
      </p:sp>
      <p:sp>
        <p:nvSpPr>
          <p:cNvPr id="30" name="tw_text_0340"/>
          <p:cNvSpPr/>
          <p:nvPr/>
        </p:nvSpPr>
        <p:spPr>
          <a:xfrm>
            <a:off x="1243584" y="3488436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[2026-05-26]. https://labs.cloudsecurityalliance.org/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658368" y="3794760"/>
            <a:ext cx="7936992" cy="393192"/>
          </a:xfrm>
          <a:prstGeom prst="roundRect">
            <a:avLst>
              <a:gd name="adj" fmla="val 4651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tatic_text_0341"/>
          <p:cNvSpPr/>
          <p:nvPr/>
        </p:nvSpPr>
        <p:spPr>
          <a:xfrm>
            <a:off x="804672" y="392277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0A9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780" dirty="0"/>
          </a:p>
        </p:txBody>
      </p:sp>
      <p:sp>
        <p:nvSpPr>
          <p:cNvPr id="33" name="tw_text_0342"/>
          <p:cNvSpPr/>
          <p:nvPr/>
        </p:nvSpPr>
        <p:spPr>
          <a:xfrm>
            <a:off x="1243584" y="3863340"/>
            <a:ext cx="69677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National Vulnerability Database. CVE-2025-32711 Detail[EB/OL].</a:t>
            </a:r>
            <a:endParaRPr lang="en-US" sz="680" dirty="0"/>
          </a:p>
        </p:txBody>
      </p:sp>
      <p:sp>
        <p:nvSpPr>
          <p:cNvPr id="34" name="tw_text_0343"/>
          <p:cNvSpPr/>
          <p:nvPr/>
        </p:nvSpPr>
        <p:spPr>
          <a:xfrm>
            <a:off x="1243584" y="4018788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7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[2026-05-26]. https://nvd.nist.gov/vuln/detail/CVE-2025-32711</a:t>
            </a:r>
            <a:endParaRPr lang="en-US" sz="570" dirty="0"/>
          </a:p>
        </p:txBody>
      </p:sp>
      <p:sp>
        <p:nvSpPr>
          <p:cNvPr id="35" name="Shape 33"/>
          <p:cNvSpPr/>
          <p:nvPr/>
        </p:nvSpPr>
        <p:spPr>
          <a:xfrm>
            <a:off x="841248" y="4462272"/>
            <a:ext cx="7424928" cy="256032"/>
          </a:xfrm>
          <a:prstGeom prst="roundRect">
            <a:avLst>
              <a:gd name="adj" fmla="val 7143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6" name="static_text_0344"/>
          <p:cNvSpPr/>
          <p:nvPr/>
        </p:nvSpPr>
        <p:spPr>
          <a:xfrm>
            <a:off x="1005840" y="4539996"/>
            <a:ext cx="711403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 正文采用顺序编码制标注资料来源；网络文献访问日期统一按本材料生成日期记录。</a:t>
            </a:r>
            <a:endParaRPr lang="en-US" sz="69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" fill="hold">
                      <p:stCondLst>
                        <p:cond delay="0"/>
                      </p:stCondLst>
                      <p:childTnLst>
                        <p:par>
                          <p:cTn id="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" dur="52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5" fill="hold">
                      <p:stCondLst>
                        <p:cond delay="90"/>
                      </p:stCondLst>
                      <p:childTnLst>
                        <p:par>
                          <p:cTn id="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7" dur="565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90"/>
                      </p:stCondLst>
                      <p:childTnLst>
                        <p:par>
                          <p:cTn id="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0" dur="61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90"/>
                      </p:stCondLst>
                      <p:childTnLst>
                        <p:par>
                          <p:cTn id="12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3" dur="655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90"/>
                      </p:stCondLst>
                      <p:childTnLst>
                        <p:par>
                          <p:cTn id="15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6" dur="7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90"/>
                      </p:stCondLst>
                      <p:childTnLst>
                        <p:par>
                          <p:cTn id="18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19" dur="745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90"/>
                      </p:stCondLst>
                      <p:childTnLst>
                        <p:par>
                          <p:cTn id="21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2" dur="79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"/>
                      </p:stCondLst>
                      <p:childTnLst>
                        <p:par>
                          <p:cTn id="24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5" dur="835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90"/>
                      </p:stCondLst>
                      <p:childTnLst>
                        <p:par>
                          <p:cTn id="27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28" dur="8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90"/>
                      </p:stCondLst>
                      <p:childTnLst>
                        <p:par>
                          <p:cTn id="30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1" dur="925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90"/>
                      </p:stCondLst>
                      <p:childTnLst>
                        <p:par>
                          <p:cTn id="33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4" dur="97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90"/>
                      </p:stCondLst>
                      <p:childTnLst>
                        <p:par>
                          <p:cTn id="36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37" dur="1015" fill="hold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90"/>
                      </p:stCondLst>
                      <p:childTnLst>
                        <p:par>
                          <p:cTn id="39" presetID="1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in" filter="typewriter">
                                <p:cBhvr>
                                  <p:cTn id="40" dur="106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  <p:iterate type="lt">
                              <p:tmAbs val="35"/>
                            </p:iterate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3" grpId="0" build="p"/>
      <p:bldP spid="14" grpId="0" build="p"/>
      <p:bldP spid="17" grpId="0" build="p"/>
      <p:bldP spid="18" grpId="0" build="p"/>
      <p:bldP spid="21" grpId="0" build="p"/>
      <p:bldP spid="22" grpId="0" build="p"/>
      <p:bldP spid="25" grpId="0" build="p"/>
      <p:bldP spid="26" grpId="0" build="p"/>
      <p:bldP spid="29" grpId="0" build="p"/>
      <p:bldP spid="30" grpId="0" build="p"/>
      <p:bldP spid="33" grpId="0" build="p"/>
      <p:bldP spid="34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技术深度与应用前景版</dc:title>
  <dc:subject>国创赛 2026 高教主赛道创意组路演</dc:subject>
  <dc:creator>Agent eBPF Filter</dc:creator>
  <cp:lastModifiedBy>Agent eBPF Filter</cp:lastModifiedBy>
  <cp:revision>1</cp:revision>
  <dcterms:created xsi:type="dcterms:W3CDTF">2026-05-26T12:44:08Z</dcterms:created>
  <dcterms:modified xsi:type="dcterms:W3CDTF">2026-05-26T12:44:08Z</dcterms:modified>
</cp:coreProperties>
</file>